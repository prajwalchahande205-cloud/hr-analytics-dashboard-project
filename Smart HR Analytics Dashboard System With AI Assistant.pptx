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672" r:id="rId3"/>
  </p:sldMasterIdLst>
  <p:sldIdLst>
    <p:sldId id="256" r:id="rId4"/>
    <p:sldId id="257" r:id="rId5"/>
    <p:sldId id="258" r:id="rId6"/>
    <p:sldId id="259" r:id="rId7"/>
    <p:sldId id="261" r:id="rId8"/>
    <p:sldId id="262" r:id="rId9"/>
    <p:sldId id="263" r:id="rId10"/>
    <p:sldId id="270" r:id="rId11"/>
    <p:sldId id="264" r:id="rId12"/>
    <p:sldId id="265" r:id="rId13"/>
    <p:sldId id="266" r:id="rId14"/>
    <p:sldId id="267" r:id="rId15"/>
    <p:sldId id="271" r:id="rId16"/>
    <p:sldId id="269" r:id="rId17"/>
  </p:sldIdLst>
  <p:sldSz cx="12192000" cy="6858000"/>
  <p:notesSz cx="6858000" cy="9144000"/>
  <p:defaultTextStyle>
    <a:defPPr lvl="0">
      <a:defRPr lang="en-US"/>
    </a:defPPr>
    <a:lvl1pPr marL="0" lvl="0"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6" autoAdjust="0"/>
  </p:normalViewPr>
  <p:slideViewPr>
    <p:cSldViewPr snapToGrid="0">
      <p:cViewPr>
        <p:scale>
          <a:sx n="72" d="100"/>
          <a:sy n="72" d="100"/>
        </p:scale>
        <p:origin x="1075"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IN"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IN"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IN" strike="noStrike"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IN"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endParaRPr lang="en-IN" strike="noStrike"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2051"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nchor="t" anchorCtr="0"/>
          <a:lstStyle/>
          <a:p>
            <a:pPr lvl="0"/>
            <a:r>
              <a:rPr lang="en-US" altLang="en-US" dirty="0"/>
              <a:t>Click to edit Master text styles</a:t>
            </a:r>
          </a:p>
          <a:p>
            <a:pPr lvl="1" indent="-228600"/>
            <a:r>
              <a:rPr lang="en-US" altLang="en-US" dirty="0"/>
              <a:t>Second level</a:t>
            </a:r>
          </a:p>
          <a:p>
            <a:pPr lvl="2" indent="-228600"/>
            <a:r>
              <a:rPr lang="en-US" altLang="en-US" dirty="0"/>
              <a:t>Third level</a:t>
            </a:r>
          </a:p>
          <a:p>
            <a:pPr lvl="3" indent="-228600"/>
            <a:r>
              <a:rPr lang="en-US" altLang="en-US" dirty="0"/>
              <a:t>Fourth level</a:t>
            </a:r>
          </a:p>
          <a:p>
            <a:pPr lvl="4" indent="-228600"/>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63BBE11-F0BB-4922-A557-F9EC762BEDC4}" type="datetimeFigureOut">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08-09-2026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A9CFEC8-458F-4632-B366-332647AE03B9}" type="slidenum">
              <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rPr>
              <a:t>‹#›</a:t>
            </a:fld>
            <a:endParaRPr kumimoji="0" lang="en-IN"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8" name="Subtitle 2"/>
          <p:cNvSpPr txBox="1"/>
          <p:nvPr/>
        </p:nvSpPr>
        <p:spPr>
          <a:xfrm>
            <a:off x="1169988" y="2992438"/>
            <a:ext cx="10031413" cy="3429000"/>
          </a:xfrm>
          <a:prstGeom prst="rect">
            <a:avLst/>
          </a:prstGeom>
        </p:spPr>
        <p:txBody>
          <a:bodyPr>
            <a:normAutofit fontScale="40000" lnSpcReduction="20000"/>
          </a:bodyPr>
          <a:lstStyle/>
          <a:p>
            <a:pPr marL="274320" marR="0" indent="-274320" defTabSz="914400" fontAlgn="auto">
              <a:spcBef>
                <a:spcPct val="20000"/>
              </a:spcBef>
              <a:spcAft>
                <a:spcPts val="0"/>
              </a:spcAft>
              <a:buClr>
                <a:schemeClr val="accent3"/>
              </a:buClr>
              <a:buSzPct val="95000"/>
              <a:buFontTx/>
              <a:buNone/>
              <a:defRPr/>
            </a:pPr>
            <a:endParaRPr kumimoji="0" lang="en-US" sz="2600" b="1" u="sng"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algn="ctr"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kumimoji="0" lang="en-US" sz="4500" b="1" u="sng" kern="1200" cap="none" spc="0" normalizeH="0" baseline="0" noProof="0" dirty="0">
                <a:latin typeface="Times New Roman" panose="02020603050405020304" pitchFamily="18" charset="0"/>
                <a:ea typeface="+mn-ea"/>
                <a:cs typeface="Times New Roman" panose="02020603050405020304" pitchFamily="18" charset="0"/>
              </a:rPr>
              <a:t>Guide:</a:t>
            </a: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endParaRPr lang="en-US" sz="4500" b="1" dirty="0">
              <a:latin typeface="Times New Roman" panose="02020603050405020304" pitchFamily="18" charset="0"/>
              <a:cs typeface="Times New Roman" panose="02020603050405020304" pitchFamily="18" charset="0"/>
            </a:endParaRPr>
          </a:p>
          <a:p>
            <a:pPr marL="274320" marR="0" indent="-274320" algn="ctr"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a:t>
            </a:r>
            <a:r>
              <a:rPr lang="en-US" sz="4500" b="1" dirty="0">
                <a:latin typeface="Times New Roman" panose="02020603050405020304" pitchFamily="18" charset="0"/>
                <a:cs typeface="Times New Roman" panose="02020603050405020304" pitchFamily="18" charset="0"/>
              </a:rPr>
              <a:t>Ritesh Madankar , Rohit Mohurle </a:t>
            </a:r>
          </a:p>
          <a:p>
            <a:pPr marL="274320" marR="0" indent="-274320" algn="ctr" defTabSz="914400" fontAlgn="auto">
              <a:spcBef>
                <a:spcPct val="20000"/>
              </a:spcBef>
              <a:spcAft>
                <a:spcPts val="0"/>
              </a:spcAft>
              <a:buClr>
                <a:schemeClr val="accent3"/>
              </a:buClr>
              <a:buSzPct val="95000"/>
              <a:buFontTx/>
              <a:buNone/>
              <a:defRPr/>
            </a:pPr>
            <a:r>
              <a:rPr lang="en-US" sz="4400" b="1" dirty="0">
                <a:latin typeface="Times New Roman" panose="02020603050405020304" pitchFamily="18" charset="0"/>
                <a:cs typeface="Times New Roman" panose="02020603050405020304" pitchFamily="18" charset="0"/>
              </a:rPr>
              <a:t> BCA Student </a:t>
            </a:r>
            <a:r>
              <a:rPr lang="en-US" sz="4400" dirty="0">
                <a:latin typeface="Times New Roman" panose="02020603050405020304" pitchFamily="18" charset="0"/>
                <a:cs typeface="Times New Roman" panose="02020603050405020304" pitchFamily="18" charset="0"/>
              </a:rPr>
              <a:t>                                                         </a:t>
            </a:r>
          </a:p>
          <a:p>
            <a:pPr marL="274320" marR="0" indent="-274320" algn="ctr" defTabSz="914400" fontAlgn="auto">
              <a:spcBef>
                <a:spcPct val="20000"/>
              </a:spcBef>
              <a:spcAft>
                <a:spcPts val="0"/>
              </a:spcAft>
              <a:buClr>
                <a:schemeClr val="accent3"/>
              </a:buClr>
              <a:buSzPct val="95000"/>
              <a:buFontTx/>
              <a:buNone/>
              <a:defRPr/>
            </a:pPr>
            <a:endParaRPr kumimoji="0" lang="en-US" sz="4500" b="1" i="1" kern="1200" cap="none" spc="0" normalizeH="0" baseline="0" noProof="0" dirty="0">
              <a:latin typeface="Times New Roman" panose="02020603050405020304" pitchFamily="18" charset="0"/>
              <a:ea typeface="+mn-ea"/>
              <a:cs typeface="Times New Roman" panose="02020603050405020304" pitchFamily="18" charset="0"/>
            </a:endParaRPr>
          </a:p>
          <a:p>
            <a:pPr marR="0" algn="ctr" defTabSz="914400" fontAlgn="auto">
              <a:spcBef>
                <a:spcPct val="20000"/>
              </a:spcBef>
              <a:spcAft>
                <a:spcPts val="0"/>
              </a:spcAft>
              <a:buClr>
                <a:schemeClr val="accent3"/>
              </a:buClr>
              <a:buSzPct val="95000"/>
              <a:buFontTx/>
              <a:buNone/>
              <a:defRPr/>
            </a:pPr>
            <a:r>
              <a:rPr kumimoji="0" lang="en-US" sz="4500" b="1" u="sng" kern="1200" cap="none" spc="0" normalizeH="0" baseline="0" noProof="0" dirty="0">
                <a:latin typeface="Times New Roman" panose="02020603050405020304" pitchFamily="18" charset="0"/>
                <a:ea typeface="+mn-ea"/>
                <a:cs typeface="Times New Roman" panose="02020603050405020304" pitchFamily="18" charset="0"/>
              </a:rPr>
              <a:t>Name of Projectees</a:t>
            </a:r>
          </a:p>
          <a:p>
            <a:pPr marR="0" algn="ctr" defTabSz="914400" fontAlgn="auto">
              <a:spcBef>
                <a:spcPct val="20000"/>
              </a:spcBef>
              <a:spcAft>
                <a:spcPts val="0"/>
              </a:spcAft>
              <a:buClr>
                <a:schemeClr val="accent3"/>
              </a:buClr>
              <a:buSzPct val="95000"/>
              <a:buFontTx/>
              <a:buNone/>
              <a:defRPr/>
            </a:pPr>
            <a:endParaRPr kumimoji="0" lang="en-US" sz="4500" b="1" u="sng" kern="1200" cap="none" spc="0" normalizeH="0" baseline="0" noProof="0" dirty="0">
              <a:latin typeface="Times New Roman" panose="02020603050405020304" pitchFamily="18" charset="0"/>
              <a:ea typeface="+mn-ea"/>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i="1" kern="1200" cap="none" spc="0" normalizeH="0" baseline="0" noProof="0" dirty="0">
                <a:latin typeface="Rockwell" panose="02060603020205020403" pitchFamily="18" charset="0"/>
                <a:cs typeface="Times New Roman" panose="02020603050405020304" pitchFamily="18" charset="0"/>
              </a:rPr>
              <a:t>                 </a:t>
            </a:r>
            <a:r>
              <a:rPr kumimoji="0" lang="en-US" sz="4500" b="1" kern="1200" cap="none" spc="0" normalizeH="0" baseline="0" noProof="0" dirty="0">
                <a:latin typeface="Rockwell" panose="02060603020205020403" pitchFamily="18" charset="0"/>
                <a:cs typeface="Times New Roman" panose="02020603050405020304" pitchFamily="18" charset="0"/>
              </a:rPr>
              <a:t> </a:t>
            </a:r>
            <a:r>
              <a:rPr lang="en-US" sz="4500" b="1" dirty="0">
                <a:solidFill>
                  <a:srgbClr val="FF0000"/>
                </a:solidFill>
                <a:latin typeface="Rockwell" panose="02060603020205020403" pitchFamily="18" charset="0"/>
                <a:cs typeface="Times New Roman" panose="02020603050405020304" pitchFamily="18" charset="0"/>
              </a:rPr>
              <a:t>#1 </a:t>
            </a:r>
            <a:r>
              <a:rPr kumimoji="0" lang="en-US" sz="4500" b="1" kern="1200" cap="none" spc="0" normalizeH="0" baseline="0" noProof="0" dirty="0">
                <a:latin typeface="Rockwell" panose="02060603020205020403" pitchFamily="18" charset="0"/>
                <a:cs typeface="Times New Roman" panose="02020603050405020304" pitchFamily="18" charset="0"/>
              </a:rPr>
              <a:t>Prajwal Chahande                                                            </a:t>
            </a:r>
            <a:r>
              <a:rPr kumimoji="0" lang="en-US" sz="4500" b="1" kern="1200" cap="none" spc="0" normalizeH="0" baseline="0" noProof="0" dirty="0">
                <a:solidFill>
                  <a:srgbClr val="FF0000"/>
                </a:solidFill>
                <a:latin typeface="Rockwell" panose="02060603020205020403" pitchFamily="18" charset="0"/>
                <a:cs typeface="Times New Roman" panose="02020603050405020304" pitchFamily="18" charset="0"/>
              </a:rPr>
              <a:t>#2 </a:t>
            </a:r>
            <a:r>
              <a:rPr kumimoji="0" lang="en-US" sz="4500" b="1" kern="1200" cap="none" spc="0" normalizeH="0" baseline="0" noProof="0" dirty="0">
                <a:latin typeface="Rockwell" panose="02060603020205020403" pitchFamily="18" charset="0"/>
                <a:cs typeface="Times New Roman" panose="02020603050405020304" pitchFamily="18" charset="0"/>
              </a:rPr>
              <a:t>Rohit Gupta</a:t>
            </a:r>
          </a:p>
          <a:p>
            <a:pPr marL="274320" marR="0" indent="-274320"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Rockwell" panose="02060603020205020403" pitchFamily="18" charset="0"/>
                <a:cs typeface="Times New Roman" panose="02020603050405020304" pitchFamily="18" charset="0"/>
              </a:rPr>
              <a:t>                  </a:t>
            </a:r>
            <a:r>
              <a:rPr kumimoji="0" lang="en-US" sz="4500" b="1" kern="1200" cap="none" spc="0" normalizeH="0" baseline="0" noProof="0" dirty="0">
                <a:solidFill>
                  <a:srgbClr val="FF0000"/>
                </a:solidFill>
                <a:latin typeface="Rockwell" panose="02060603020205020403" pitchFamily="18" charset="0"/>
                <a:cs typeface="Times New Roman" panose="02020603050405020304" pitchFamily="18" charset="0"/>
              </a:rPr>
              <a:t>#3 </a:t>
            </a:r>
            <a:r>
              <a:rPr kumimoji="0" lang="en-US" sz="4500" b="1" kern="1200" cap="none" spc="0" normalizeH="0" baseline="0" noProof="0" dirty="0">
                <a:latin typeface="Rockwell" panose="02060603020205020403" pitchFamily="18" charset="0"/>
                <a:cs typeface="Times New Roman" panose="02020603050405020304" pitchFamily="18" charset="0"/>
              </a:rPr>
              <a:t>Ritesh Madankar                                                             </a:t>
            </a:r>
            <a:r>
              <a:rPr kumimoji="0" lang="en-US" sz="4500" b="1" kern="1200" cap="none" spc="0" normalizeH="0" baseline="0" noProof="0" dirty="0">
                <a:solidFill>
                  <a:srgbClr val="FF0000"/>
                </a:solidFill>
                <a:latin typeface="Rockwell" panose="02060603020205020403" pitchFamily="18" charset="0"/>
                <a:cs typeface="Times New Roman" panose="02020603050405020304" pitchFamily="18" charset="0"/>
              </a:rPr>
              <a:t> #4 </a:t>
            </a:r>
            <a:r>
              <a:rPr kumimoji="0" lang="en-US" sz="4500" b="1" kern="1200" cap="none" spc="0" normalizeH="0" baseline="0" noProof="0" dirty="0">
                <a:latin typeface="Rockwell" panose="02060603020205020403" pitchFamily="18" charset="0"/>
                <a:cs typeface="Times New Roman" panose="02020603050405020304" pitchFamily="18" charset="0"/>
              </a:rPr>
              <a:t>Purvesh Deshmukh</a:t>
            </a:r>
          </a:p>
          <a:p>
            <a:pPr marL="274320" marR="0" indent="-274320" defTabSz="914400" fontAlgn="auto">
              <a:spcBef>
                <a:spcPct val="20000"/>
              </a:spcBef>
              <a:spcAft>
                <a:spcPts val="0"/>
              </a:spcAft>
              <a:buClr>
                <a:schemeClr val="accent3"/>
              </a:buClr>
              <a:buSzPct val="95000"/>
              <a:buFontTx/>
              <a:buNone/>
              <a:defRPr/>
            </a:pPr>
            <a:r>
              <a:rPr kumimoji="0" lang="en-US" sz="2600" b="1" i="1" kern="1200" cap="none" spc="0" normalizeH="0" baseline="0" noProof="0" dirty="0">
                <a:solidFill>
                  <a:srgbClr val="FF0000"/>
                </a:solidFill>
                <a:latin typeface="Rockwell" panose="02060603020205020403" pitchFamily="18" charset="0"/>
                <a:cs typeface="Times New Roman" panose="02020603050405020304" pitchFamily="18" charset="0"/>
              </a:rPr>
              <a:t>                            </a:t>
            </a:r>
            <a:r>
              <a:rPr lang="en-US" sz="4400" b="1" dirty="0">
                <a:solidFill>
                  <a:srgbClr val="FF0000"/>
                </a:solidFill>
                <a:latin typeface="Rockwell" panose="02060603020205020403" pitchFamily="18" charset="0"/>
                <a:cs typeface="Times New Roman" panose="02020603050405020304" pitchFamily="18" charset="0"/>
              </a:rPr>
              <a:t>  </a:t>
            </a:r>
            <a:r>
              <a:rPr kumimoji="0" lang="en-US" sz="4400" b="1" i="0" u="none" strike="noStrike" kern="1200" cap="none" spc="0" normalizeH="0" baseline="0" noProof="0" dirty="0">
                <a:ln>
                  <a:noFill/>
                </a:ln>
                <a:solidFill>
                  <a:srgbClr val="FF0000"/>
                </a:solidFill>
                <a:effectLst/>
                <a:uLnTx/>
                <a:uFillTx/>
                <a:latin typeface="Rockwell" panose="02060603020205020403" pitchFamily="18" charset="0"/>
                <a:cs typeface="Times New Roman" panose="02020603050405020304" pitchFamily="18" charset="0"/>
              </a:rPr>
              <a:t>#5 </a:t>
            </a:r>
            <a:r>
              <a:rPr kumimoji="0" lang="en-US" sz="4400" b="1" i="0" u="none" strike="noStrike" kern="1200" cap="none" spc="0" normalizeH="0" baseline="0" noProof="0" dirty="0">
                <a:ln>
                  <a:noFill/>
                </a:ln>
                <a:effectLst/>
                <a:uLnTx/>
                <a:uFillTx/>
                <a:latin typeface="Rockwell" panose="02060603020205020403" pitchFamily="18" charset="0"/>
                <a:cs typeface="Times New Roman" panose="02020603050405020304" pitchFamily="18" charset="0"/>
              </a:rPr>
              <a:t>Rohit Mohurle                                                        </a:t>
            </a:r>
            <a:r>
              <a:rPr lang="en-US" sz="4400" b="1" dirty="0">
                <a:solidFill>
                  <a:prstClr val="black"/>
                </a:solidFill>
                <a:latin typeface="Rockwell" panose="02060603020205020403" pitchFamily="18" charset="0"/>
                <a:cs typeface="Times New Roman" panose="02020603050405020304" pitchFamily="18" charset="0"/>
              </a:rPr>
              <a:t>           </a:t>
            </a:r>
            <a:r>
              <a:rPr lang="en-US" sz="4400" b="1" dirty="0">
                <a:solidFill>
                  <a:srgbClr val="FF0000"/>
                </a:solidFill>
                <a:latin typeface="Rockwell" panose="02060603020205020403" pitchFamily="18" charset="0"/>
                <a:cs typeface="Times New Roman" panose="02020603050405020304" pitchFamily="18" charset="0"/>
              </a:rPr>
              <a:t> #6 </a:t>
            </a:r>
            <a:r>
              <a:rPr lang="en-US" sz="4400" b="1" dirty="0">
                <a:solidFill>
                  <a:prstClr val="black"/>
                </a:solidFill>
                <a:latin typeface="Rockwell" panose="02060603020205020403" pitchFamily="18" charset="0"/>
                <a:cs typeface="Times New Roman" panose="02020603050405020304" pitchFamily="18" charset="0"/>
              </a:rPr>
              <a:t>Aryan Bhoyar</a:t>
            </a:r>
            <a:endParaRPr kumimoji="0" lang="en-US" sz="2600" b="1" i="1" kern="1200" cap="none" spc="0" normalizeH="0" baseline="0" noProof="0" dirty="0">
              <a:latin typeface="Rockwell" panose="02060603020205020403" pitchFamily="18" charset="0"/>
              <a:cs typeface="Times New Roman" panose="02020603050405020304" pitchFamily="18" charset="0"/>
            </a:endParaRPr>
          </a:p>
          <a:p>
            <a:pPr marL="274320" marR="0" indent="-274320" defTabSz="914400" fontAlgn="auto">
              <a:spcBef>
                <a:spcPct val="20000"/>
              </a:spcBef>
              <a:spcAft>
                <a:spcPts val="0"/>
              </a:spcAft>
              <a:buClr>
                <a:schemeClr val="accent3"/>
              </a:buClr>
              <a:buSzPct val="95000"/>
              <a:buFontTx/>
              <a:buNone/>
              <a:defRPr/>
            </a:pPr>
            <a:r>
              <a:rPr kumimoji="0" lang="en-US" sz="4500" b="1" kern="1200" cap="none" spc="0" normalizeH="0" baseline="0" noProof="0" dirty="0">
                <a:latin typeface="Times New Roman" panose="02020603050405020304" pitchFamily="18" charset="0"/>
                <a:ea typeface="+mn-ea"/>
                <a:cs typeface="Times New Roman" panose="02020603050405020304" pitchFamily="18" charset="0"/>
              </a:rPr>
              <a:t>                                                                          Session 2026</a:t>
            </a:r>
            <a:endParaRPr kumimoji="0" lang="en-US" sz="2600"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3077" name="Rectangle 5"/>
          <p:cNvSpPr txBox="1"/>
          <p:nvPr/>
        </p:nvSpPr>
        <p:spPr>
          <a:xfrm>
            <a:off x="1981199" y="2206687"/>
            <a:ext cx="8229600" cy="867930"/>
          </a:xfrm>
          <a:prstGeom prst="rect">
            <a:avLst/>
          </a:prstGeom>
          <a:noFill/>
          <a:ln w="9525">
            <a:solidFill>
              <a:srgbClr val="00B0F0"/>
            </a:solidFill>
          </a:ln>
        </p:spPr>
        <p:txBody>
          <a:bodyPr anchor="t" anchorCtr="0">
            <a:spAutoFit/>
          </a:bodyPr>
          <a:lstStyle/>
          <a:p>
            <a:pPr algn="ctr">
              <a:lnSpc>
                <a:spcPct val="90000"/>
              </a:lnSpc>
              <a:spcBef>
                <a:spcPts val="1000"/>
              </a:spcBef>
            </a:pPr>
            <a:r>
              <a:rPr lang="en-US" altLang="en-US" sz="2800" b="1" dirty="0">
                <a:solidFill>
                  <a:srgbClr val="FF0000"/>
                </a:solidFill>
                <a:latin typeface="Rockwell" panose="02060603020205020403" pitchFamily="18" charset="0"/>
                <a:ea typeface="Aharoni" pitchFamily="2" charset="-79"/>
              </a:rPr>
              <a:t>Smart HR-Analytics Dashboard System With AI Assistant </a:t>
            </a:r>
            <a:r>
              <a:rPr lang="en-US" altLang="en-US" sz="2400" b="1" i="1" dirty="0">
                <a:solidFill>
                  <a:srgbClr val="FF0000"/>
                </a:solidFill>
                <a:latin typeface="Arial Black" panose="020B0A04020102020204" pitchFamily="34" charset="0"/>
                <a:ea typeface="Aharoni" pitchFamily="2" charset="-79"/>
              </a:rPr>
              <a:t> </a:t>
            </a:r>
            <a:endParaRPr lang="en-US" altLang="en-US" sz="2400" b="1" i="1" u="sng" dirty="0">
              <a:solidFill>
                <a:srgbClr val="FF0000"/>
              </a:solidFill>
              <a:latin typeface="Castellar" panose="020A0402060406010301" pitchFamily="18" charset="0"/>
              <a:ea typeface="Arial" panose="020B0604020202020204" pitchFamily="34" charset="0"/>
            </a:endParaRPr>
          </a:p>
        </p:txBody>
      </p:sp>
      <p:sp>
        <p:nvSpPr>
          <p:cNvPr id="3078" name="Rectangle 5"/>
          <p:cNvSpPr txBox="1"/>
          <p:nvPr/>
        </p:nvSpPr>
        <p:spPr>
          <a:xfrm>
            <a:off x="1981199" y="1426370"/>
            <a:ext cx="8229600" cy="425450"/>
          </a:xfrm>
          <a:prstGeom prst="rect">
            <a:avLst/>
          </a:prstGeom>
          <a:noFill/>
          <a:ln w="9525">
            <a:noFill/>
          </a:ln>
        </p:spPr>
        <p:txBody>
          <a:bodyPr anchor="t" anchorCtr="0">
            <a:spAutoFit/>
          </a:bodyPr>
          <a:lstStyle/>
          <a:p>
            <a:pPr algn="ctr">
              <a:lnSpc>
                <a:spcPct val="90000"/>
              </a:lnSpc>
              <a:spcBef>
                <a:spcPts val="1000"/>
              </a:spcBef>
            </a:pPr>
            <a:r>
              <a:rPr lang="en-US" altLang="en-US" sz="2400" b="1" i="1" dirty="0">
                <a:latin typeface="Times New Roman" panose="02020603050405020304" pitchFamily="18" charset="0"/>
              </a:rPr>
              <a:t>Project Progress Seminar -I</a:t>
            </a:r>
            <a:endParaRPr lang="en-US" altLang="en-US" sz="2400" b="1" i="1" u="sng" dirty="0">
              <a:latin typeface="Times New Roman" panose="02020603050405020304" pitchFamily="18" charset="0"/>
              <a:ea typeface="Times New Roman" panose="02020603050405020304" pitchFamily="18" charset="0"/>
            </a:endParaRPr>
          </a:p>
        </p:txBody>
      </p:sp>
      <p:sp>
        <p:nvSpPr>
          <p:cNvPr id="3079" name="Rectangle 5"/>
          <p:cNvSpPr txBox="1"/>
          <p:nvPr/>
        </p:nvSpPr>
        <p:spPr>
          <a:xfrm>
            <a:off x="1872624" y="1876030"/>
            <a:ext cx="8229600" cy="425450"/>
          </a:xfrm>
          <a:prstGeom prst="rect">
            <a:avLst/>
          </a:prstGeom>
          <a:noFill/>
          <a:ln w="9525">
            <a:noFill/>
          </a:ln>
        </p:spPr>
        <p:txBody>
          <a:bodyPr anchor="t" anchorCtr="0">
            <a:spAutoFit/>
          </a:bodyPr>
          <a:lstStyle/>
          <a:p>
            <a:pPr algn="ctr">
              <a:lnSpc>
                <a:spcPct val="90000"/>
              </a:lnSpc>
              <a:spcBef>
                <a:spcPts val="1000"/>
              </a:spcBef>
            </a:pPr>
            <a:r>
              <a:rPr lang="en-US" altLang="en-US" sz="2400" b="1" i="1" dirty="0">
                <a:latin typeface="Times New Roman" panose="02020603050405020304" pitchFamily="18" charset="0"/>
              </a:rPr>
              <a:t>On</a:t>
            </a:r>
            <a:endParaRPr lang="en-US" altLang="en-US" sz="2400" b="1" i="1" u="sng" dirty="0">
              <a:latin typeface="Times New Roman" panose="02020603050405020304" pitchFamily="18" charset="0"/>
              <a:ea typeface="Times New Roman" panose="02020603050405020304" pitchFamily="18" charset="0"/>
            </a:endParaRPr>
          </a:p>
        </p:txBody>
      </p:sp>
      <p:sp>
        <p:nvSpPr>
          <p:cNvPr id="3081" name="Rectangle 8"/>
          <p:cNvSpPr/>
          <p:nvPr/>
        </p:nvSpPr>
        <p:spPr>
          <a:xfrm>
            <a:off x="89693" y="289999"/>
            <a:ext cx="12012613" cy="1520544"/>
          </a:xfrm>
          <a:prstGeom prst="rect">
            <a:avLst/>
          </a:prstGeom>
          <a:noFill/>
          <a:ln w="9525">
            <a:noFill/>
          </a:ln>
        </p:spPr>
        <p:txBody>
          <a:bodyPr wrap="square" anchor="ctr" anchorCtr="0">
            <a:spAutoFit/>
          </a:bodyPr>
          <a:lstStyle/>
          <a:p>
            <a:pPr marL="365125" lvl="1" indent="-285750" algn="ctr">
              <a:spcBef>
                <a:spcPts val="500"/>
              </a:spcBef>
              <a:buFont typeface="Arial" panose="020B0604020202020204" pitchFamily="34" charset="0"/>
              <a:tabLst>
                <a:tab pos="1303655" algn="r"/>
                <a:tab pos="2865755" algn="ctr"/>
                <a:tab pos="5730875" algn="r"/>
              </a:tabLst>
            </a:pPr>
            <a:r>
              <a:rPr lang="en-US" sz="2400" b="1" dirty="0">
                <a:latin typeface="Times New Roman" panose="02020603050405020304" pitchFamily="18" charset="0"/>
                <a:cs typeface="Times New Roman" panose="02020603050405020304" pitchFamily="18" charset="0"/>
              </a:rPr>
              <a:t>G H RAISONI SKILLTECH UNIVERSITY, NAGPUR</a:t>
            </a:r>
          </a:p>
          <a:p>
            <a:pPr marL="365125" lvl="1" indent="-285750" algn="ctr">
              <a:spcBef>
                <a:spcPts val="500"/>
              </a:spcBef>
              <a:buFont typeface="Arial" panose="020B0604020202020204" pitchFamily="34" charset="0"/>
              <a:tabLst>
                <a:tab pos="1303655" algn="r"/>
                <a:tab pos="2865755" algn="ctr"/>
                <a:tab pos="5730875" algn="r"/>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DEPARTMENT OF SCIENCE &amp; TECHNOLOGY</a:t>
            </a:r>
            <a:endParaRPr lang="en-IN" sz="1050" dirty="0">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15000"/>
              </a:lnSpc>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(Bachelor of Computer Application)</a:t>
            </a:r>
            <a:endParaRPr lang="en-IN" sz="105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0"/>
              </a:spcAft>
            </a:pPr>
            <a:endParaRPr lang="en-US" altLang="en-US" sz="2000" dirty="0">
              <a:solidFill>
                <a:srgbClr val="C00000"/>
              </a:solidFill>
              <a:latin typeface="Arial Black" panose="020B0A04020102020204" pitchFamily="34" charset="0"/>
              <a:ea typeface="Times New Roman" panose="02020603050405020304" pitchFamily="18" charset="0"/>
            </a:endParaRP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pic>
        <p:nvPicPr>
          <p:cNvPr id="14" name="Picture 13"/>
          <p:cNvPicPr/>
          <p:nvPr/>
        </p:nvPicPr>
        <p:blipFill>
          <a:blip r:embed="rId3">
            <a:extLst>
              <a:ext uri="{28A0092B-C50C-407E-A947-70E740481C1C}">
                <a14:useLocalDpi xmlns:a14="http://schemas.microsoft.com/office/drawing/2010/main" val="0"/>
              </a:ext>
            </a:extLst>
          </a:blip>
          <a:srcRect/>
          <a:stretch>
            <a:fillRect/>
          </a:stretch>
        </p:blipFill>
        <p:spPr bwMode="auto">
          <a:xfrm>
            <a:off x="10003901" y="384493"/>
            <a:ext cx="1874520" cy="901860"/>
          </a:xfrm>
          <a:prstGeom prst="rect">
            <a:avLst/>
          </a:prstGeom>
          <a:noFill/>
          <a:ln>
            <a:noFill/>
          </a:ln>
        </p:spPr>
      </p:pic>
      <p:sp>
        <p:nvSpPr>
          <p:cNvPr id="12" name="Text Box 2"/>
          <p:cNvSpPr txBox="1">
            <a:spLocks noChangeArrowheads="1"/>
          </p:cNvSpPr>
          <p:nvPr/>
        </p:nvSpPr>
        <p:spPr bwMode="auto">
          <a:xfrm>
            <a:off x="0" y="6231414"/>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Nagpur</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Pune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Jalgaon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Amravati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Pandhurna</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Bhandara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2" name="Picture 1" descr="G H Raisoni Skill Tech University ...">
            <a:extLst>
              <a:ext uri="{FF2B5EF4-FFF2-40B4-BE49-F238E27FC236}">
                <a16:creationId xmlns:a16="http://schemas.microsoft.com/office/drawing/2014/main" id="{41AA0E98-E35E-5D11-BD17-4CD4E4EF90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5256" y="230148"/>
            <a:ext cx="2323006" cy="11734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8" name="Title 1"/>
          <p:cNvSpPr txBox="1"/>
          <p:nvPr/>
        </p:nvSpPr>
        <p:spPr bwMode="auto">
          <a:xfrm>
            <a:off x="428625" y="5343525"/>
            <a:ext cx="104457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endParaRPr kumimoji="0" lang="en-US" sz="3200" b="1"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10" name="Content Placeholder 2"/>
          <p:cNvSpPr txBox="1"/>
          <p:nvPr/>
        </p:nvSpPr>
        <p:spPr bwMode="auto">
          <a:xfrm>
            <a:off x="428625" y="1303256"/>
            <a:ext cx="10445750" cy="41211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a:no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Introduction </a:t>
            </a:r>
          </a:p>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lang="en-US" noProof="0" dirty="0">
                <a:ln>
                  <a:noFill/>
                </a:ln>
                <a:effectLst/>
                <a:uLnTx/>
                <a:uFillTx/>
                <a:latin typeface="Times New Roman" panose="02020603050405020304" pitchFamily="18" charset="0"/>
                <a:cs typeface="Times New Roman" panose="02020603050405020304" pitchFamily="18" charset="0"/>
                <a:sym typeface="+mn-ea"/>
              </a:rPr>
              <a:t>Literature Survey </a:t>
            </a:r>
            <a:endParaRPr kumimoji="0" lang="en-US"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lang="en-US" noProof="0" dirty="0">
                <a:ln>
                  <a:noFill/>
                </a:ln>
                <a:effectLst/>
                <a:uLnTx/>
                <a:uFillTx/>
                <a:latin typeface="Times New Roman" panose="02020603050405020304" pitchFamily="18" charset="0"/>
                <a:cs typeface="Times New Roman" panose="02020603050405020304" pitchFamily="18" charset="0"/>
                <a:sym typeface="+mn-ea"/>
              </a:rPr>
              <a:t>Problem Statement </a:t>
            </a:r>
            <a:endParaRPr kumimoji="0" lang="en-US"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Justifications for Selecting the Title</a:t>
            </a:r>
          </a:p>
          <a:p>
            <a:pPr marL="342900" indent="-342900" algn="l" eaLnBrk="1" fontAlgn="auto" hangingPunct="1">
              <a:lnSpc>
                <a:spcPct val="100000"/>
              </a:lnSpc>
              <a:spcAft>
                <a:spcPts val="0"/>
              </a:spcAft>
              <a:buClr>
                <a:schemeClr val="accent3"/>
              </a:buClr>
              <a:buFont typeface="Wingdings" panose="05000000000000000000" pitchFamily="2" charset="2"/>
              <a:buChar char="q"/>
              <a:defRPr/>
            </a:pPr>
            <a:r>
              <a:rPr lang="en-IN" dirty="0">
                <a:latin typeface="Times New Roman" panose="02020603050405020304" pitchFamily="18" charset="0"/>
                <a:cs typeface="Times New Roman" panose="02020603050405020304" pitchFamily="18" charset="0"/>
              </a:rPr>
              <a:t>Objectives of the Project</a:t>
            </a:r>
            <a:endParaRPr lang="en-US" dirty="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Block Diagram</a:t>
            </a:r>
          </a:p>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Expected Result </a:t>
            </a:r>
          </a:p>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Work plan </a:t>
            </a:r>
          </a:p>
          <a:p>
            <a:pPr marL="342900" marR="0" lvl="0" indent="-342900" algn="l" defTabSz="914400" rtl="0" eaLnBrk="1" fontAlgn="auto" latinLnBrk="0" hangingPunct="1">
              <a:lnSpc>
                <a:spcPct val="100000"/>
              </a:lnSpc>
              <a:spcBef>
                <a:spcPts val="1000"/>
              </a:spcBef>
              <a:spcAft>
                <a:spcPts val="0"/>
              </a:spcAft>
              <a:buClr>
                <a:schemeClr val="accent3"/>
              </a:buClr>
              <a:buSzTx/>
              <a:buFont typeface="Wingdings" panose="05000000000000000000" pitchFamily="2" charset="2"/>
              <a:buChar char="q"/>
              <a:defRPr/>
            </a:pPr>
            <a:r>
              <a:rPr kumimoji="0" lang="en-US"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References </a:t>
            </a:r>
          </a:p>
        </p:txBody>
      </p:sp>
      <p:sp>
        <p:nvSpPr>
          <p:cNvPr id="12" name="Title 1"/>
          <p:cNvSpPr txBox="1"/>
          <p:nvPr/>
        </p:nvSpPr>
        <p:spPr bwMode="auto">
          <a:xfrm>
            <a:off x="0" y="-20328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Contents</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5122" name="TextBox 1"/>
          <p:cNvSpPr txBox="1"/>
          <p:nvPr/>
        </p:nvSpPr>
        <p:spPr>
          <a:xfrm>
            <a:off x="1287590" y="855141"/>
            <a:ext cx="9420174" cy="5262979"/>
          </a:xfrm>
          <a:prstGeom prst="rect">
            <a:avLst/>
          </a:prstGeom>
          <a:noFill/>
          <a:ln w="9525">
            <a:solidFill>
              <a:srgbClr val="00B0F0"/>
            </a:solidFill>
          </a:ln>
        </p:spPr>
        <p:txBody>
          <a:bodyPr wrap="square" anchor="t" anchorCtr="0">
            <a:spAutoFit/>
          </a:bodyPr>
          <a:lstStyle/>
          <a:p>
            <a:pPr eaLnBrk="0" hangingPunct="0"/>
            <a:r>
              <a:rPr lang="en-US" altLang="en-US" sz="2400" dirty="0">
                <a:solidFill>
                  <a:srgbClr val="FF0000"/>
                </a:solidFill>
                <a:latin typeface="Rockwell" panose="02060603020205020403" pitchFamily="18" charset="0"/>
              </a:rPr>
              <a:t>“</a:t>
            </a:r>
            <a:r>
              <a:rPr lang="en-US" altLang="en-US" sz="2400" dirty="0">
                <a:latin typeface="Rockwell" panose="02060603020205020403" pitchFamily="18" charset="0"/>
              </a:rPr>
              <a:t>Our project is </a:t>
            </a:r>
            <a:r>
              <a:rPr lang="en-US" altLang="en-US" sz="2400" b="1" dirty="0">
                <a:highlight>
                  <a:srgbClr val="FFFF00"/>
                </a:highlight>
                <a:latin typeface="Rockwell" panose="02060603020205020403" pitchFamily="18" charset="0"/>
              </a:rPr>
              <a:t>Smart HR-Analytics Dashboard System with AI Assistant.</a:t>
            </a:r>
          </a:p>
          <a:p>
            <a:pPr eaLnBrk="0" hangingPunct="0"/>
            <a:endParaRPr lang="en-US" altLang="en-US" sz="2400" dirty="0">
              <a:latin typeface="Rockwell" panose="02060603020205020403" pitchFamily="18" charset="0"/>
            </a:endParaRPr>
          </a:p>
          <a:p>
            <a:pPr eaLnBrk="0" hangingPunct="0"/>
            <a:r>
              <a:rPr lang="en-US" altLang="en-US" sz="2400" dirty="0">
                <a:latin typeface="Rockwell" panose="02060603020205020403" pitchFamily="18" charset="0"/>
              </a:rPr>
              <a:t>Companies have a large amount of employee data, which is difficult to analyze manually.</a:t>
            </a:r>
          </a:p>
          <a:p>
            <a:pPr eaLnBrk="0" hangingPunct="0"/>
            <a:endParaRPr lang="en-US" altLang="en-US" sz="2400" dirty="0">
              <a:latin typeface="Rockwell" panose="02060603020205020403" pitchFamily="18" charset="0"/>
            </a:endParaRPr>
          </a:p>
          <a:p>
            <a:pPr eaLnBrk="0" hangingPunct="0"/>
            <a:r>
              <a:rPr lang="en-US" altLang="en-US" sz="2400" dirty="0">
                <a:latin typeface="Rockwell" panose="02060603020205020403" pitchFamily="18" charset="0"/>
              </a:rPr>
              <a:t>Our system uses </a:t>
            </a:r>
            <a:r>
              <a:rPr lang="en-US" altLang="en-US" sz="2400" b="1" dirty="0" err="1">
                <a:highlight>
                  <a:srgbClr val="FFFF00"/>
                </a:highlight>
                <a:latin typeface="Rockwell" panose="02060603020205020403" pitchFamily="18" charset="0"/>
              </a:rPr>
              <a:t>Excel,and</a:t>
            </a:r>
            <a:r>
              <a:rPr lang="en-US" altLang="en-US" sz="2400" b="1" dirty="0">
                <a:highlight>
                  <a:srgbClr val="FFFF00"/>
                </a:highlight>
                <a:latin typeface="Rockwell" panose="02060603020205020403" pitchFamily="18" charset="0"/>
              </a:rPr>
              <a:t> Power BI </a:t>
            </a:r>
            <a:r>
              <a:rPr lang="en-US" altLang="en-US" sz="2400" dirty="0">
                <a:latin typeface="Rockwell" panose="02060603020205020403" pitchFamily="18" charset="0"/>
              </a:rPr>
              <a:t>to analyze employee data and create an interactive dashboard.</a:t>
            </a:r>
          </a:p>
          <a:p>
            <a:pPr eaLnBrk="0" hangingPunct="0"/>
            <a:endParaRPr lang="en-US" altLang="en-US" sz="2400" dirty="0">
              <a:latin typeface="Rockwell" panose="02060603020205020403" pitchFamily="18" charset="0"/>
            </a:endParaRPr>
          </a:p>
          <a:p>
            <a:pPr eaLnBrk="0" hangingPunct="0"/>
            <a:r>
              <a:rPr lang="en-US" altLang="en-US" sz="2400" dirty="0">
                <a:latin typeface="Rockwell" panose="02060603020205020403" pitchFamily="18" charset="0"/>
              </a:rPr>
              <a:t>The </a:t>
            </a:r>
            <a:r>
              <a:rPr lang="en-US" altLang="en-US" sz="2400" b="1" dirty="0">
                <a:highlight>
                  <a:srgbClr val="FFFF00"/>
                </a:highlight>
                <a:latin typeface="Rockwell" panose="02060603020205020403" pitchFamily="18" charset="0"/>
              </a:rPr>
              <a:t>AI Assistant </a:t>
            </a:r>
            <a:r>
              <a:rPr lang="en-US" altLang="en-US" sz="2400" dirty="0">
                <a:latin typeface="Rockwell" panose="02060603020205020403" pitchFamily="18" charset="0"/>
              </a:rPr>
              <a:t>helps HR teams ask questions about the data and get quick answers.</a:t>
            </a:r>
          </a:p>
          <a:p>
            <a:pPr eaLnBrk="0" hangingPunct="0"/>
            <a:endParaRPr lang="en-US" altLang="en-US" sz="2400" dirty="0">
              <a:latin typeface="Rockwell" panose="02060603020205020403" pitchFamily="18" charset="0"/>
            </a:endParaRPr>
          </a:p>
          <a:p>
            <a:pPr eaLnBrk="0" hangingPunct="0"/>
            <a:r>
              <a:rPr lang="en-US" altLang="en-US" sz="2400" dirty="0">
                <a:latin typeface="Rockwell" panose="02060603020205020403" pitchFamily="18" charset="0"/>
              </a:rPr>
              <a:t>This system helps HR teams save time and make better decisions.</a:t>
            </a:r>
            <a:r>
              <a:rPr lang="en-US" altLang="en-US" sz="2400" dirty="0">
                <a:solidFill>
                  <a:srgbClr val="FF0000"/>
                </a:solidFill>
                <a:latin typeface="Rockwell" panose="02060603020205020403" pitchFamily="18" charset="0"/>
              </a:rPr>
              <a:t>”</a:t>
            </a:r>
            <a:endParaRPr lang="en-US" altLang="en-US" sz="2400" dirty="0">
              <a:solidFill>
                <a:srgbClr val="FF0000"/>
              </a:solidFill>
              <a:latin typeface="Rockwell" panose="02060603020205020403" pitchFamily="18" charset="0"/>
              <a:ea typeface="Times New Roman" panose="02020603050405020304" pitchFamily="18" charset="0"/>
            </a:endParaRPr>
          </a:p>
        </p:txBody>
      </p:sp>
      <p:sp>
        <p:nvSpPr>
          <p:cNvPr id="14" name="Title 1"/>
          <p:cNvSpPr txBox="1"/>
          <p:nvPr/>
        </p:nvSpPr>
        <p:spPr bwMode="auto">
          <a:xfrm>
            <a:off x="0" y="-182563"/>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Introduction</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p:nvPr/>
        </p:nvSpPr>
        <p:spPr>
          <a:xfrm rot="1700192">
            <a:off x="276741" y="5378247"/>
            <a:ext cx="11348432" cy="457200"/>
          </a:xfrm>
          <a:prstGeom prst="rect">
            <a:avLst/>
          </a:prstGeom>
          <a:noFill/>
          <a:ln w="9525">
            <a:noFill/>
          </a:ln>
        </p:spPr>
        <p:txBody>
          <a:bodyPr wrap="square" anchor="ctr" anchorCtr="0">
            <a:spAutoFit/>
          </a:bodyPr>
          <a:lstStyle/>
          <a:p>
            <a:endParaRPr lang="en-IN" altLang="en-US" dirty="0">
              <a:latin typeface="Calibri" panose="020F0502020204030204" pitchFamily="34" charset="0"/>
              <a:ea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02100991"/>
              </p:ext>
            </p:extLst>
          </p:nvPr>
        </p:nvGraphicFramePr>
        <p:xfrm>
          <a:off x="171060" y="876376"/>
          <a:ext cx="11849880" cy="5898093"/>
        </p:xfrm>
        <a:graphic>
          <a:graphicData uri="http://schemas.openxmlformats.org/drawingml/2006/table">
            <a:tbl>
              <a:tblPr firstRow="1" bandRow="1">
                <a:tableStyleId>{69CF1AB2-1976-4502-BF36-3FF5EA218861}</a:tableStyleId>
              </a:tblPr>
              <a:tblGrid>
                <a:gridCol w="969344">
                  <a:extLst>
                    <a:ext uri="{9D8B030D-6E8A-4147-A177-3AD203B41FA5}">
                      <a16:colId xmlns:a16="http://schemas.microsoft.com/office/drawing/2014/main" val="20000"/>
                    </a:ext>
                  </a:extLst>
                </a:gridCol>
                <a:gridCol w="4897820">
                  <a:extLst>
                    <a:ext uri="{9D8B030D-6E8A-4147-A177-3AD203B41FA5}">
                      <a16:colId xmlns:a16="http://schemas.microsoft.com/office/drawing/2014/main" val="20001"/>
                    </a:ext>
                  </a:extLst>
                </a:gridCol>
                <a:gridCol w="2682142">
                  <a:extLst>
                    <a:ext uri="{9D8B030D-6E8A-4147-A177-3AD203B41FA5}">
                      <a16:colId xmlns:a16="http://schemas.microsoft.com/office/drawing/2014/main" val="20002"/>
                    </a:ext>
                  </a:extLst>
                </a:gridCol>
                <a:gridCol w="3300574">
                  <a:extLst>
                    <a:ext uri="{9D8B030D-6E8A-4147-A177-3AD203B41FA5}">
                      <a16:colId xmlns:a16="http://schemas.microsoft.com/office/drawing/2014/main" val="20003"/>
                    </a:ext>
                  </a:extLst>
                </a:gridCol>
              </a:tblGrid>
              <a:tr h="256627">
                <a:tc>
                  <a:txBody>
                    <a:bodyPr/>
                    <a:lstStyle/>
                    <a:p>
                      <a:pPr algn="ctr"/>
                      <a:r>
                        <a:rPr lang="en-US" sz="1400" dirty="0"/>
                        <a:t>Sr. No.</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400" dirty="0"/>
                        <a:t>Paper</a:t>
                      </a:r>
                      <a:r>
                        <a:rPr lang="en-US" sz="1400" baseline="0" dirty="0"/>
                        <a:t> Title and its Author</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800" dirty="0"/>
                        <a:t>Details of Publication</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400" dirty="0"/>
                        <a:t>Findings</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0"/>
                  </a:ext>
                </a:extLst>
              </a:tr>
              <a:tr h="1603861">
                <a:tc>
                  <a:txBody>
                    <a:bodyPr/>
                    <a:lstStyle/>
                    <a:p>
                      <a:pPr algn="ctr"/>
                      <a:r>
                        <a:rPr lang="en-US" sz="1400" dirty="0"/>
                        <a:t>1</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2000" dirty="0"/>
                        <a:t>A</a:t>
                      </a:r>
                      <a:r>
                        <a:rPr lang="en-IN" sz="2000" dirty="0"/>
                        <a:t>n evidence-based review of HR Analytics </a:t>
                      </a:r>
                    </a:p>
                    <a:p>
                      <a:pPr algn="ctr"/>
                      <a:r>
                        <a:rPr lang="en-IN" sz="2000" dirty="0"/>
                        <a:t>    Janet H. Marler &amp; Jhon W. Boudreau</a:t>
                      </a:r>
                    </a:p>
                  </a:txBody>
                  <a:tcPr marL="91439" marR="91439" marT="45728" marB="45728" anchor="ctr"/>
                </a:tc>
                <a:tc>
                  <a:txBody>
                    <a:bodyPr/>
                    <a:lstStyle/>
                    <a:p>
                      <a:pPr algn="ctr"/>
                      <a:r>
                        <a:rPr lang="en-US" sz="1800" dirty="0">
                          <a:solidFill>
                            <a:schemeClr val="tx1"/>
                          </a:solidFill>
                        </a:rPr>
                        <a:t>The International Journal of Human Resource Management, 2016</a:t>
                      </a:r>
                      <a:endParaRPr lang="en-US" sz="1800" dirty="0">
                        <a:solidFill>
                          <a:schemeClr val="tx1"/>
                        </a:solidFill>
                        <a:latin typeface="+mn-lt"/>
                        <a:cs typeface="Times New Roman" panose="02020603050405020304" pitchFamily="18" charset="0"/>
                      </a:endParaRPr>
                    </a:p>
                  </a:txBody>
                  <a:tcPr marL="91439" marR="91439" marT="45728" marB="45728" anchor="ctr"/>
                </a:tc>
                <a:tc>
                  <a:txBody>
                    <a:bodyPr/>
                    <a:lstStyle/>
                    <a:p>
                      <a:pPr marL="0" indent="0" algn="l">
                        <a:buFont typeface="Arial" panose="020B0604020202020204" pitchFamily="34" charset="0"/>
                        <a:buNone/>
                      </a:pPr>
                      <a:r>
                        <a:rPr lang="en-US" sz="1400" dirty="0">
                          <a:solidFill>
                            <a:schemeClr val="tx1"/>
                          </a:solidFill>
                        </a:rPr>
                        <a:t>HR Analytics helps companies make better decisions and improve employee performance. But many companies still do not use HR Analytics properly. Therefore, more research is needed to make HR Analytics easier and more useful</a:t>
                      </a:r>
                      <a:r>
                        <a:rPr lang="en-US" sz="1050" dirty="0">
                          <a:solidFill>
                            <a:schemeClr val="tx1"/>
                          </a:solidFill>
                        </a:rPr>
                        <a:t>.</a:t>
                      </a:r>
                      <a:endParaRPr lang="en-US" sz="105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1"/>
                  </a:ext>
                </a:extLst>
              </a:tr>
              <a:tr h="1411399">
                <a:tc>
                  <a:txBody>
                    <a:bodyPr/>
                    <a:lstStyle/>
                    <a:p>
                      <a:pPr algn="ctr"/>
                      <a:r>
                        <a:rPr lang="en-US" sz="1400" dirty="0"/>
                        <a:t>2</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2000" dirty="0">
                          <a:solidFill>
                            <a:schemeClr val="tx1"/>
                          </a:solidFill>
                        </a:rPr>
                        <a:t>Exploring the landscape of human resource analytics</a:t>
                      </a:r>
                    </a:p>
                    <a:p>
                      <a:pPr algn="ctr"/>
                      <a:r>
                        <a:rPr lang="en-US" sz="2000" dirty="0">
                          <a:solidFill>
                            <a:schemeClr val="tx1"/>
                          </a:solidFill>
                        </a:rPr>
                        <a:t>Lalita Mohan Mohapatra &amp; AVS Kamesh</a:t>
                      </a:r>
                    </a:p>
                    <a:p>
                      <a:pPr algn="ct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800" dirty="0">
                          <a:solidFill>
                            <a:schemeClr val="tx1"/>
                          </a:solidFill>
                        </a:rPr>
                        <a:t>Human Resource Development International, 2024</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l"/>
                      <a:r>
                        <a:rPr lang="en-US" sz="1400" dirty="0">
                          <a:solidFill>
                            <a:schemeClr val="tx1"/>
                          </a:solidFill>
                        </a:rPr>
                        <a:t>The paper focuses on five main topics: HR Analytics, Training, Performance, Big Data &amp; AI, and HR systems. Researchers found that HR Analytics is very important for making fair and clear decisions. </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2"/>
                  </a:ext>
                </a:extLst>
              </a:tr>
              <a:tr h="1218937">
                <a:tc>
                  <a:txBody>
                    <a:bodyPr/>
                    <a:lstStyle/>
                    <a:p>
                      <a:pPr algn="ctr"/>
                      <a:r>
                        <a:rPr lang="en-US" sz="1400" dirty="0"/>
                        <a:t>3</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2000" dirty="0">
                          <a:solidFill>
                            <a:schemeClr val="tx1"/>
                          </a:solidFill>
                        </a:rPr>
                        <a:t>Human resource analytics revisited</a:t>
                      </a:r>
                    </a:p>
                    <a:p>
                      <a:pPr algn="ctr"/>
                      <a:r>
                        <a:rPr lang="en-US" sz="2000" dirty="0">
                          <a:solidFill>
                            <a:schemeClr val="tx1"/>
                          </a:solidFill>
                        </a:rPr>
                        <a:t>Rukma Ramachandran, Vimal Babu &amp; Vijaya Prabhagar Murugesan</a:t>
                      </a:r>
                      <a:endParaRPr lang="en-US" sz="20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800" dirty="0">
                          <a:solidFill>
                            <a:schemeClr val="tx1"/>
                          </a:solidFill>
                        </a:rPr>
                        <a:t>Benchmarking: An International Journal, 2023</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l"/>
                      <a:r>
                        <a:rPr lang="en-US" sz="1400" dirty="0">
                          <a:solidFill>
                            <a:schemeClr val="tx1"/>
                          </a:solidFill>
                        </a:rPr>
                        <a:t>Skilled people and management support are important for using HR analytics successfully. Companies that use HR Analytics can make better decisions about their employees.</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3"/>
                  </a:ext>
                </a:extLst>
              </a:tr>
              <a:tr h="1298120">
                <a:tc>
                  <a:txBody>
                    <a:bodyPr/>
                    <a:lstStyle/>
                    <a:p>
                      <a:pPr algn="ctr"/>
                      <a:r>
                        <a:rPr lang="en-US" sz="1400" dirty="0"/>
                        <a:t>4</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2000" dirty="0">
                          <a:solidFill>
                            <a:schemeClr val="tx1"/>
                          </a:solidFill>
                        </a:rPr>
                        <a:t>Human resource analytics: A systematization of research topics </a:t>
                      </a:r>
                      <a:endParaRPr lang="en-US" sz="20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ctr"/>
                      <a:r>
                        <a:rPr lang="en-US" sz="1800" dirty="0">
                          <a:solidFill>
                            <a:schemeClr val="tx1"/>
                          </a:solidFill>
                        </a:rPr>
                        <a:t>Human Resource Management Review, 2022</a:t>
                      </a:r>
                      <a:endParaRPr lang="en-US" sz="18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tc>
                  <a:txBody>
                    <a:bodyPr/>
                    <a:lstStyle/>
                    <a:p>
                      <a:pPr algn="l"/>
                      <a:r>
                        <a:rPr lang="en-US" sz="1400" dirty="0">
                          <a:solidFill>
                            <a:schemeClr val="tx1"/>
                          </a:solidFill>
                        </a:rPr>
                        <a:t>The paper divides HR Analytics into three pats: requirements, usage and benefits. It also explains that AI can make HR Analytics more powerful and useful.</a:t>
                      </a:r>
                      <a:endParaRPr lang="en-US" sz="1400" dirty="0">
                        <a:solidFill>
                          <a:schemeClr val="tx1"/>
                        </a:solidFill>
                        <a:latin typeface="Times New Roman" panose="02020603050405020304" pitchFamily="18" charset="0"/>
                        <a:cs typeface="Times New Roman" panose="02020603050405020304" pitchFamily="18" charset="0"/>
                      </a:endParaRPr>
                    </a:p>
                  </a:txBody>
                  <a:tcPr marL="91439" marR="91439" marT="45728" marB="45728" anchor="ctr"/>
                </a:tc>
                <a:extLst>
                  <a:ext uri="{0D108BD9-81ED-4DB2-BD59-A6C34878D82A}">
                    <a16:rowId xmlns:a16="http://schemas.microsoft.com/office/drawing/2014/main" val="10004"/>
                  </a:ext>
                </a:extLst>
              </a:tr>
            </a:tbl>
          </a:graphicData>
        </a:graphic>
      </p:graphicFrame>
      <p:sp>
        <p:nvSpPr>
          <p:cNvPr id="14" name="Title 1"/>
          <p:cNvSpPr txBox="1"/>
          <p:nvPr/>
        </p:nvSpPr>
        <p:spPr bwMode="auto">
          <a:xfrm>
            <a:off x="0" y="1"/>
            <a:ext cx="12192000" cy="717755"/>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Literature Survey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7170" name="TextBox 7"/>
          <p:cNvSpPr txBox="1"/>
          <p:nvPr/>
        </p:nvSpPr>
        <p:spPr>
          <a:xfrm>
            <a:off x="1886697" y="1536174"/>
            <a:ext cx="8418605" cy="3785652"/>
          </a:xfrm>
          <a:prstGeom prst="rect">
            <a:avLst/>
          </a:prstGeom>
          <a:noFill/>
          <a:ln w="9525">
            <a:solidFill>
              <a:srgbClr val="00B0F0"/>
            </a:solidFill>
          </a:ln>
        </p:spPr>
        <p:txBody>
          <a:bodyPr wrap="square" anchor="t" anchorCtr="0">
            <a:spAutoFit/>
          </a:bodyPr>
          <a:lstStyle/>
          <a:p>
            <a:pPr algn="ctr" eaLnBrk="0" hangingPunct="0"/>
            <a:r>
              <a:rPr lang="en-US" sz="2400" dirty="0">
                <a:solidFill>
                  <a:srgbClr val="FF0000"/>
                </a:solidFill>
                <a:latin typeface="Rockwell" panose="02060603020205020403" pitchFamily="18" charset="0"/>
              </a:rPr>
              <a:t>“</a:t>
            </a:r>
            <a:r>
              <a:rPr lang="en-US" sz="2400" dirty="0">
                <a:latin typeface="Rockwell" panose="02060603020205020403" pitchFamily="18" charset="0"/>
              </a:rPr>
              <a:t>Every year, Many Companies hire a large number of employees.</a:t>
            </a:r>
            <a:r>
              <a:rPr lang="en-US" sz="2400" dirty="0">
                <a:solidFill>
                  <a:srgbClr val="FF0000"/>
                </a:solidFill>
                <a:latin typeface="Rockwell" panose="02060603020205020403" pitchFamily="18" charset="0"/>
              </a:rPr>
              <a:t>’’</a:t>
            </a:r>
          </a:p>
          <a:p>
            <a:pPr algn="ctr" eaLnBrk="0" hangingPunct="0"/>
            <a:endParaRPr lang="en-US" sz="2400" dirty="0">
              <a:latin typeface="Rockwell" panose="02060603020205020403" pitchFamily="18" charset="0"/>
            </a:endParaRPr>
          </a:p>
          <a:p>
            <a:pPr algn="ctr" eaLnBrk="0" hangingPunct="0"/>
            <a:r>
              <a:rPr lang="en-US" sz="2400" dirty="0">
                <a:solidFill>
                  <a:srgbClr val="FF0000"/>
                </a:solidFill>
                <a:latin typeface="Rockwell" panose="02060603020205020403" pitchFamily="18" charset="0"/>
              </a:rPr>
              <a:t>“</a:t>
            </a:r>
            <a:r>
              <a:rPr lang="en-US" sz="2400" dirty="0">
                <a:latin typeface="Rockwell" panose="02060603020205020403" pitchFamily="18" charset="0"/>
              </a:rPr>
              <a:t>But HR teams face problems in analyzing a large amount of employee data.</a:t>
            </a:r>
            <a:r>
              <a:rPr lang="en-US" sz="2400" dirty="0">
                <a:solidFill>
                  <a:srgbClr val="FF0000"/>
                </a:solidFill>
                <a:latin typeface="Rockwell" panose="02060603020205020403" pitchFamily="18" charset="0"/>
              </a:rPr>
              <a:t>”</a:t>
            </a:r>
          </a:p>
          <a:p>
            <a:pPr algn="ctr" eaLnBrk="0" hangingPunct="0"/>
            <a:endParaRPr lang="en-US" sz="2400" dirty="0">
              <a:latin typeface="Rockwell" panose="02060603020205020403" pitchFamily="18" charset="0"/>
            </a:endParaRPr>
          </a:p>
          <a:p>
            <a:pPr algn="ctr" eaLnBrk="0" hangingPunct="0"/>
            <a:r>
              <a:rPr lang="en-US" sz="2400" dirty="0">
                <a:solidFill>
                  <a:srgbClr val="FF0000"/>
                </a:solidFill>
                <a:latin typeface="Rockwell" panose="02060603020205020403" pitchFamily="18" charset="0"/>
              </a:rPr>
              <a:t>“</a:t>
            </a:r>
            <a:r>
              <a:rPr lang="en-US" sz="2400" dirty="0">
                <a:latin typeface="Rockwell" panose="02060603020205020403" pitchFamily="18" charset="0"/>
              </a:rPr>
              <a:t>So, Create a system that can analyze a large amount of employee data at the same time and help teams make better decisions easily.</a:t>
            </a:r>
            <a:r>
              <a:rPr lang="en-US" sz="2400" dirty="0">
                <a:solidFill>
                  <a:srgbClr val="FF0000"/>
                </a:solidFill>
                <a:latin typeface="Rockwell" panose="02060603020205020403" pitchFamily="18" charset="0"/>
              </a:rPr>
              <a:t>”</a:t>
            </a:r>
            <a:endParaRPr lang="en-IN" sz="2400" dirty="0">
              <a:solidFill>
                <a:srgbClr val="FF0000"/>
              </a:solidFill>
              <a:latin typeface="Rockwell" panose="02060603020205020403" pitchFamily="18" charset="0"/>
            </a:endParaRPr>
          </a:p>
          <a:p>
            <a:pPr algn="ctr" eaLnBrk="0" hangingPunct="0"/>
            <a:endParaRPr lang="en-US" altLang="en-US" sz="2400" dirty="0">
              <a:solidFill>
                <a:srgbClr val="FF0000"/>
              </a:solidFill>
              <a:latin typeface="Rockwell" panose="02060603020205020403" pitchFamily="18" charset="0"/>
              <a:ea typeface="Times New Roman" panose="02020603050405020304" pitchFamily="18" charset="0"/>
            </a:endParaRPr>
          </a:p>
        </p:txBody>
      </p:sp>
      <p:sp>
        <p:nvSpPr>
          <p:cNvPr id="13" name="Title 1"/>
          <p:cNvSpPr txBox="1"/>
          <p:nvPr/>
        </p:nvSpPr>
        <p:spPr bwMode="auto">
          <a:xfrm>
            <a:off x="0" y="-167323"/>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Problem Statement</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n-IN" sz="3200" b="1" dirty="0">
                <a:solidFill>
                  <a:schemeClr val="bg1"/>
                </a:solidFill>
                <a:latin typeface="Times New Roman" panose="02020603050405020304" pitchFamily="18" charset="0"/>
                <a:cs typeface="Times New Roman" panose="02020603050405020304" pitchFamily="18" charset="0"/>
              </a:rPr>
              <a:t>Justifications for Selecting the Title</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2" name="TextBox 7">
            <a:extLst>
              <a:ext uri="{FF2B5EF4-FFF2-40B4-BE49-F238E27FC236}">
                <a16:creationId xmlns:a16="http://schemas.microsoft.com/office/drawing/2014/main" id="{2AF47AD7-BDF8-F2E9-28B1-6BE2418642DC}"/>
              </a:ext>
            </a:extLst>
          </p:cNvPr>
          <p:cNvSpPr txBox="1"/>
          <p:nvPr/>
        </p:nvSpPr>
        <p:spPr>
          <a:xfrm>
            <a:off x="1886697" y="1870184"/>
            <a:ext cx="8418605" cy="3046988"/>
          </a:xfrm>
          <a:prstGeom prst="rect">
            <a:avLst/>
          </a:prstGeom>
          <a:noFill/>
          <a:ln w="9525">
            <a:solidFill>
              <a:srgbClr val="00B0F0"/>
            </a:solidFill>
          </a:ln>
        </p:spPr>
        <p:txBody>
          <a:bodyPr wrap="square" anchor="t" anchorCtr="0">
            <a:spAutoFit/>
          </a:bodyPr>
          <a:lstStyle/>
          <a:p>
            <a:pPr algn="ctr" eaLnBrk="0" hangingPunct="0"/>
            <a:r>
              <a:rPr lang="en-US" sz="2400" dirty="0">
                <a:solidFill>
                  <a:srgbClr val="FF0000"/>
                </a:solidFill>
                <a:latin typeface="Rockwell" panose="02060603020205020403" pitchFamily="18" charset="0"/>
              </a:rPr>
              <a:t>“</a:t>
            </a:r>
            <a:r>
              <a:rPr lang="en-US" sz="2400" dirty="0">
                <a:latin typeface="Rockwell" panose="02060603020205020403" pitchFamily="18" charset="0"/>
              </a:rPr>
              <a:t>Every year, Companies hire many employees, but it is </a:t>
            </a:r>
            <a:r>
              <a:rPr lang="en-US" sz="2400" dirty="0">
                <a:highlight>
                  <a:srgbClr val="FFFF00"/>
                </a:highlight>
                <a:latin typeface="Rockwell" panose="02060603020205020403" pitchFamily="18" charset="0"/>
              </a:rPr>
              <a:t>not possible for HR teams </a:t>
            </a:r>
            <a:r>
              <a:rPr lang="en-US" sz="2400" dirty="0">
                <a:latin typeface="Rockwell" panose="02060603020205020403" pitchFamily="18" charset="0"/>
              </a:rPr>
              <a:t>to </a:t>
            </a:r>
            <a:r>
              <a:rPr lang="en-US" sz="2400" dirty="0">
                <a:highlight>
                  <a:srgbClr val="FFFF00"/>
                </a:highlight>
                <a:latin typeface="Rockwell" panose="02060603020205020403" pitchFamily="18" charset="0"/>
              </a:rPr>
              <a:t>analyze all employee data manually. </a:t>
            </a:r>
            <a:r>
              <a:rPr lang="en-US" sz="2400" dirty="0">
                <a:solidFill>
                  <a:srgbClr val="FF0000"/>
                </a:solidFill>
                <a:latin typeface="Rockwell" panose="02060603020205020403" pitchFamily="18" charset="0"/>
              </a:rPr>
              <a:t>’’</a:t>
            </a:r>
          </a:p>
          <a:p>
            <a:pPr algn="ctr" eaLnBrk="0" hangingPunct="0"/>
            <a:endParaRPr lang="en-US" sz="2400" dirty="0">
              <a:latin typeface="Rockwell" panose="02060603020205020403" pitchFamily="18" charset="0"/>
            </a:endParaRPr>
          </a:p>
          <a:p>
            <a:pPr algn="ctr" eaLnBrk="0" hangingPunct="0"/>
            <a:r>
              <a:rPr lang="en-US" sz="2400" dirty="0">
                <a:solidFill>
                  <a:srgbClr val="FF0000"/>
                </a:solidFill>
                <a:latin typeface="Rockwell" panose="02060603020205020403" pitchFamily="18" charset="0"/>
              </a:rPr>
              <a:t>“</a:t>
            </a:r>
            <a:r>
              <a:rPr lang="en-US" sz="2400" dirty="0">
                <a:latin typeface="Rockwell" panose="02060603020205020403" pitchFamily="18" charset="0"/>
              </a:rPr>
              <a:t>Our objective is to </a:t>
            </a:r>
            <a:r>
              <a:rPr lang="en-US" sz="2400" dirty="0">
                <a:highlight>
                  <a:srgbClr val="FFFF00"/>
                </a:highlight>
                <a:latin typeface="Rockwell" panose="02060603020205020403" pitchFamily="18" charset="0"/>
              </a:rPr>
              <a:t>help HR analyze a large amount of employee data </a:t>
            </a:r>
            <a:r>
              <a:rPr lang="en-US" sz="2400" dirty="0">
                <a:latin typeface="Rockwell" panose="02060603020205020403" pitchFamily="18" charset="0"/>
              </a:rPr>
              <a:t>at the same time and make better decisions.</a:t>
            </a:r>
            <a:r>
              <a:rPr lang="en-US" sz="2400" dirty="0">
                <a:solidFill>
                  <a:srgbClr val="FF0000"/>
                </a:solidFill>
                <a:latin typeface="Rockwell" panose="02060603020205020403" pitchFamily="18" charset="0"/>
              </a:rPr>
              <a:t>”</a:t>
            </a:r>
            <a:endParaRPr lang="en-IN" sz="2400" dirty="0">
              <a:solidFill>
                <a:srgbClr val="FF0000"/>
              </a:solidFill>
              <a:latin typeface="Rockwell" panose="02060603020205020403" pitchFamily="18" charset="0"/>
            </a:endParaRPr>
          </a:p>
          <a:p>
            <a:pPr algn="ctr" eaLnBrk="0" hangingPunct="0"/>
            <a:endParaRPr lang="en-US" altLang="en-US" sz="2400" dirty="0">
              <a:solidFill>
                <a:srgbClr val="FF0000"/>
              </a:solidFill>
              <a:latin typeface="Rockwell" panose="02060603020205020403" pitchFamily="18" charset="0"/>
              <a:ea typeface="Times New Roman" panose="02020603050405020304" pitchFamily="18" charset="0"/>
            </a:endParaRPr>
          </a:p>
        </p:txBody>
      </p:sp>
    </p:spTree>
    <p:extLst>
      <p:ext uri="{BB962C8B-B14F-4D97-AF65-F5344CB8AC3E}">
        <p14:creationId xmlns:p14="http://schemas.microsoft.com/office/powerpoint/2010/main" val="290757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n-US" sz="3200" b="1" dirty="0">
                <a:solidFill>
                  <a:schemeClr val="bg1"/>
                </a:solidFill>
                <a:latin typeface="Times New Roman" panose="02020603050405020304" pitchFamily="18" charset="0"/>
                <a:cs typeface="Times New Roman" panose="02020603050405020304" pitchFamily="18" charset="0"/>
              </a:rPr>
              <a:t>Objectives of the Project</a:t>
            </a: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2" name="TextBox 1">
            <a:extLst>
              <a:ext uri="{FF2B5EF4-FFF2-40B4-BE49-F238E27FC236}">
                <a16:creationId xmlns:a16="http://schemas.microsoft.com/office/drawing/2014/main" id="{1570B539-C986-C62F-41FE-39145F60450E}"/>
              </a:ext>
            </a:extLst>
          </p:cNvPr>
          <p:cNvSpPr txBox="1"/>
          <p:nvPr/>
        </p:nvSpPr>
        <p:spPr>
          <a:xfrm>
            <a:off x="1684877" y="2274838"/>
            <a:ext cx="8822245" cy="2308324"/>
          </a:xfrm>
          <a:prstGeom prst="rect">
            <a:avLst/>
          </a:prstGeom>
          <a:noFill/>
          <a:ln>
            <a:solidFill>
              <a:srgbClr val="00B0F0"/>
            </a:solidFill>
          </a:ln>
        </p:spPr>
        <p:txBody>
          <a:bodyPr wrap="square" rtlCol="0">
            <a:spAutoFit/>
          </a:bodyPr>
          <a:lstStyle/>
          <a:p>
            <a:pPr algn="ctr"/>
            <a:r>
              <a:rPr lang="en-US" sz="2400" dirty="0">
                <a:solidFill>
                  <a:srgbClr val="FF0000"/>
                </a:solidFill>
                <a:latin typeface="Rockwell" panose="02060603020205020403" pitchFamily="18" charset="0"/>
              </a:rPr>
              <a:t>“</a:t>
            </a:r>
            <a:r>
              <a:rPr lang="en-US" sz="2400" dirty="0">
                <a:latin typeface="Rockwell" panose="02060603020205020403" pitchFamily="18" charset="0"/>
              </a:rPr>
              <a:t>Our Objective is to Create a Dashboard that HR analyze a large amount of employee data in less time and make better decisions.</a:t>
            </a:r>
            <a:r>
              <a:rPr lang="en-US" sz="2400" dirty="0">
                <a:solidFill>
                  <a:srgbClr val="FF0000"/>
                </a:solidFill>
                <a:latin typeface="Rockwell" panose="02060603020205020403" pitchFamily="18" charset="0"/>
              </a:rPr>
              <a:t>’’</a:t>
            </a:r>
          </a:p>
          <a:p>
            <a:endParaRPr lang="en-US" sz="2400" dirty="0">
              <a:latin typeface="Rockwell" panose="02060603020205020403" pitchFamily="18" charset="0"/>
            </a:endParaRPr>
          </a:p>
          <a:p>
            <a:pPr algn="ctr"/>
            <a:r>
              <a:rPr lang="en-US" sz="2400" dirty="0">
                <a:solidFill>
                  <a:srgbClr val="FF0000"/>
                </a:solidFill>
                <a:latin typeface="Rockwell" panose="02060603020205020403" pitchFamily="18" charset="0"/>
              </a:rPr>
              <a:t>“</a:t>
            </a:r>
            <a:r>
              <a:rPr lang="en-US" sz="2400" dirty="0">
                <a:latin typeface="Rockwell" panose="02060603020205020403" pitchFamily="18" charset="0"/>
              </a:rPr>
              <a:t>With the help of an AI Assistant, HR can also get useful insights from the Dashboard easily.</a:t>
            </a:r>
            <a:r>
              <a:rPr lang="en-US" sz="2400" dirty="0">
                <a:solidFill>
                  <a:srgbClr val="FF0000"/>
                </a:solidFill>
                <a:latin typeface="Rockwell" panose="02060603020205020403"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AC5AF-1672-3426-4E8F-AEE6382F9B2A}"/>
            </a:ext>
          </a:extLst>
        </p:cNvPr>
        <p:cNvGrpSpPr/>
        <p:nvPr/>
      </p:nvGrpSpPr>
      <p:grpSpPr>
        <a:xfrm>
          <a:off x="0" y="0"/>
          <a:ext cx="0" cy="0"/>
          <a:chOff x="0" y="0"/>
          <a:chExt cx="0" cy="0"/>
        </a:xfrm>
      </p:grpSpPr>
      <p:sp>
        <p:nvSpPr>
          <p:cNvPr id="9217" name="Rectangle 7">
            <a:extLst>
              <a:ext uri="{FF2B5EF4-FFF2-40B4-BE49-F238E27FC236}">
                <a16:creationId xmlns:a16="http://schemas.microsoft.com/office/drawing/2014/main" id="{3C675473-EDB8-2E09-9A6C-EA7953FEAE38}"/>
              </a:ext>
            </a:extLst>
          </p:cNvPr>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a:extLst>
              <a:ext uri="{FF2B5EF4-FFF2-40B4-BE49-F238E27FC236}">
                <a16:creationId xmlns:a16="http://schemas.microsoft.com/office/drawing/2014/main" id="{3A721DE7-E95F-4D67-E9BE-616E99244A86}"/>
              </a:ext>
            </a:extLst>
          </p:cNvPr>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lvl="0" eaLnBrk="1" fontAlgn="auto" hangingPunct="1">
              <a:spcAft>
                <a:spcPts val="0"/>
              </a:spcAft>
              <a:defRPr/>
            </a:pPr>
            <a:r>
              <a:rPr lang="en-US" sz="3200" b="1" dirty="0">
                <a:solidFill>
                  <a:schemeClr val="bg1"/>
                </a:solidFill>
                <a:latin typeface="Times New Roman" panose="02020603050405020304" pitchFamily="18" charset="0"/>
                <a:cs typeface="Times New Roman" panose="02020603050405020304" pitchFamily="18" charset="0"/>
              </a:rPr>
              <a:t>Block Diagram</a:t>
            </a:r>
          </a:p>
        </p:txBody>
      </p:sp>
      <p:pic>
        <p:nvPicPr>
          <p:cNvPr id="6" name="Picture 5">
            <a:extLst>
              <a:ext uri="{FF2B5EF4-FFF2-40B4-BE49-F238E27FC236}">
                <a16:creationId xmlns:a16="http://schemas.microsoft.com/office/drawing/2014/main" id="{66210AB8-5B04-5A09-9883-20D46009C86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pic>
        <p:nvPicPr>
          <p:cNvPr id="4" name="Picture 2" descr="Data cleaning - Free files and folders icons">
            <a:extLst>
              <a:ext uri="{FF2B5EF4-FFF2-40B4-BE49-F238E27FC236}">
                <a16:creationId xmlns:a16="http://schemas.microsoft.com/office/drawing/2014/main" id="{67989D7F-B3B5-12FF-85B4-9DC039EE5C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5239" y="1950611"/>
            <a:ext cx="1409700" cy="14097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5" name="Picture 8" descr="Data collection - Free commerce and shopping icons">
            <a:extLst>
              <a:ext uri="{FF2B5EF4-FFF2-40B4-BE49-F238E27FC236}">
                <a16:creationId xmlns:a16="http://schemas.microsoft.com/office/drawing/2014/main" id="{397B4953-5176-6B43-13FD-AFC8E8479E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01" y="1983978"/>
            <a:ext cx="1466850" cy="1409700"/>
          </a:xfrm>
          <a:prstGeom prst="roundRect">
            <a:avLst>
              <a:gd name="adj" fmla="val 921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7" name="Picture 10" descr="Add database - Free seo and web icons">
            <a:extLst>
              <a:ext uri="{FF2B5EF4-FFF2-40B4-BE49-F238E27FC236}">
                <a16:creationId xmlns:a16="http://schemas.microsoft.com/office/drawing/2014/main" id="{F9BE209C-BC0B-AB80-5C2B-D8DDABF794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3244" y="2000377"/>
            <a:ext cx="1409700" cy="14097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73EB6D9-6989-01C7-9729-108E364EDE3D}"/>
              </a:ext>
            </a:extLst>
          </p:cNvPr>
          <p:cNvPicPr>
            <a:picLocks noChangeAspect="1"/>
          </p:cNvPicPr>
          <p:nvPr/>
        </p:nvPicPr>
        <p:blipFill>
          <a:blip r:embed="rId6"/>
          <a:stretch>
            <a:fillRect/>
          </a:stretch>
        </p:blipFill>
        <p:spPr>
          <a:xfrm>
            <a:off x="8701249" y="1938201"/>
            <a:ext cx="2962575" cy="16677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Arrow: Right 8">
            <a:extLst>
              <a:ext uri="{FF2B5EF4-FFF2-40B4-BE49-F238E27FC236}">
                <a16:creationId xmlns:a16="http://schemas.microsoft.com/office/drawing/2014/main" id="{B866D15E-E855-D072-2461-6E4AA20FEDEE}"/>
              </a:ext>
            </a:extLst>
          </p:cNvPr>
          <p:cNvSpPr/>
          <p:nvPr/>
        </p:nvSpPr>
        <p:spPr>
          <a:xfrm>
            <a:off x="2051955" y="2410887"/>
            <a:ext cx="1092631" cy="348712"/>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Arrow: Right 9">
            <a:extLst>
              <a:ext uri="{FF2B5EF4-FFF2-40B4-BE49-F238E27FC236}">
                <a16:creationId xmlns:a16="http://schemas.microsoft.com/office/drawing/2014/main" id="{410AC9A4-DBAE-92DA-EC36-B5125CDE8997}"/>
              </a:ext>
            </a:extLst>
          </p:cNvPr>
          <p:cNvSpPr/>
          <p:nvPr/>
        </p:nvSpPr>
        <p:spPr>
          <a:xfrm>
            <a:off x="4797776" y="2410887"/>
            <a:ext cx="1092631" cy="348712"/>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Right 10">
            <a:extLst>
              <a:ext uri="{FF2B5EF4-FFF2-40B4-BE49-F238E27FC236}">
                <a16:creationId xmlns:a16="http://schemas.microsoft.com/office/drawing/2014/main" id="{B9B463FA-5670-2EA7-8A66-F487CF48A37C}"/>
              </a:ext>
            </a:extLst>
          </p:cNvPr>
          <p:cNvSpPr/>
          <p:nvPr/>
        </p:nvSpPr>
        <p:spPr>
          <a:xfrm>
            <a:off x="7505781" y="2423382"/>
            <a:ext cx="1092631" cy="348712"/>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8EF14DDC-CB02-6E26-2608-24C1F9243D53}"/>
              </a:ext>
            </a:extLst>
          </p:cNvPr>
          <p:cNvSpPr txBox="1"/>
          <p:nvPr/>
        </p:nvSpPr>
        <p:spPr>
          <a:xfrm>
            <a:off x="385442" y="1523319"/>
            <a:ext cx="1901793" cy="369332"/>
          </a:xfrm>
          <a:prstGeom prst="rect">
            <a:avLst/>
          </a:prstGeom>
          <a:noFill/>
        </p:spPr>
        <p:txBody>
          <a:bodyPr wrap="square" rtlCol="0">
            <a:spAutoFit/>
          </a:bodyPr>
          <a:lstStyle/>
          <a:p>
            <a:r>
              <a:rPr lang="en-US" dirty="0">
                <a:latin typeface="Rockwell" panose="02060603020205020403" pitchFamily="18" charset="0"/>
              </a:rPr>
              <a:t>Data </a:t>
            </a:r>
            <a:r>
              <a:rPr lang="en-US" dirty="0">
                <a:solidFill>
                  <a:srgbClr val="FF0000"/>
                </a:solidFill>
                <a:latin typeface="Rockwell" panose="02060603020205020403" pitchFamily="18" charset="0"/>
              </a:rPr>
              <a:t>Collection</a:t>
            </a:r>
            <a:endParaRPr lang="en-IN" dirty="0">
              <a:solidFill>
                <a:srgbClr val="FF0000"/>
              </a:solidFill>
              <a:latin typeface="Rockwell" panose="02060603020205020403" pitchFamily="18" charset="0"/>
            </a:endParaRPr>
          </a:p>
        </p:txBody>
      </p:sp>
      <p:sp>
        <p:nvSpPr>
          <p:cNvPr id="14" name="TextBox 13">
            <a:extLst>
              <a:ext uri="{FF2B5EF4-FFF2-40B4-BE49-F238E27FC236}">
                <a16:creationId xmlns:a16="http://schemas.microsoft.com/office/drawing/2014/main" id="{FF077854-3AE3-4B2C-81FE-1313794B5995}"/>
              </a:ext>
            </a:extLst>
          </p:cNvPr>
          <p:cNvSpPr txBox="1"/>
          <p:nvPr/>
        </p:nvSpPr>
        <p:spPr>
          <a:xfrm>
            <a:off x="3039192" y="1496897"/>
            <a:ext cx="1901793" cy="369332"/>
          </a:xfrm>
          <a:prstGeom prst="rect">
            <a:avLst/>
          </a:prstGeom>
          <a:noFill/>
        </p:spPr>
        <p:txBody>
          <a:bodyPr wrap="square" rtlCol="0">
            <a:spAutoFit/>
          </a:bodyPr>
          <a:lstStyle/>
          <a:p>
            <a:r>
              <a:rPr lang="en-US" dirty="0">
                <a:latin typeface="Rockwell" panose="02060603020205020403" pitchFamily="18" charset="0"/>
              </a:rPr>
              <a:t>Data </a:t>
            </a:r>
            <a:r>
              <a:rPr lang="en-US" dirty="0">
                <a:solidFill>
                  <a:srgbClr val="FF0000"/>
                </a:solidFill>
                <a:latin typeface="Rockwell" panose="02060603020205020403" pitchFamily="18" charset="0"/>
              </a:rPr>
              <a:t>Cleaning</a:t>
            </a:r>
            <a:endParaRPr lang="en-IN" dirty="0">
              <a:solidFill>
                <a:srgbClr val="FF0000"/>
              </a:solidFill>
              <a:latin typeface="Rockwell" panose="02060603020205020403" pitchFamily="18" charset="0"/>
            </a:endParaRPr>
          </a:p>
        </p:txBody>
      </p:sp>
      <p:sp>
        <p:nvSpPr>
          <p:cNvPr id="15" name="TextBox 14">
            <a:extLst>
              <a:ext uri="{FF2B5EF4-FFF2-40B4-BE49-F238E27FC236}">
                <a16:creationId xmlns:a16="http://schemas.microsoft.com/office/drawing/2014/main" id="{BE0456F5-62E6-132E-AD5D-AB518D975F17}"/>
              </a:ext>
            </a:extLst>
          </p:cNvPr>
          <p:cNvSpPr txBox="1"/>
          <p:nvPr/>
        </p:nvSpPr>
        <p:spPr>
          <a:xfrm>
            <a:off x="5646860" y="1513598"/>
            <a:ext cx="2102468" cy="369332"/>
          </a:xfrm>
          <a:prstGeom prst="rect">
            <a:avLst/>
          </a:prstGeom>
          <a:noFill/>
        </p:spPr>
        <p:txBody>
          <a:bodyPr wrap="square" rtlCol="0">
            <a:spAutoFit/>
          </a:bodyPr>
          <a:lstStyle/>
          <a:p>
            <a:r>
              <a:rPr lang="en-US" dirty="0">
                <a:latin typeface="Rockwell" panose="02060603020205020403" pitchFamily="18" charset="0"/>
              </a:rPr>
              <a:t>Data </a:t>
            </a:r>
            <a:r>
              <a:rPr lang="en-US" dirty="0">
                <a:solidFill>
                  <a:srgbClr val="FF0000"/>
                </a:solidFill>
                <a:latin typeface="Rockwell" panose="02060603020205020403" pitchFamily="18" charset="0"/>
              </a:rPr>
              <a:t>insert &amp; add</a:t>
            </a:r>
            <a:endParaRPr lang="en-IN" dirty="0">
              <a:solidFill>
                <a:srgbClr val="FF0000"/>
              </a:solidFill>
              <a:latin typeface="Rockwell" panose="02060603020205020403" pitchFamily="18" charset="0"/>
            </a:endParaRPr>
          </a:p>
        </p:txBody>
      </p:sp>
      <p:sp>
        <p:nvSpPr>
          <p:cNvPr id="16" name="TextBox 15">
            <a:extLst>
              <a:ext uri="{FF2B5EF4-FFF2-40B4-BE49-F238E27FC236}">
                <a16:creationId xmlns:a16="http://schemas.microsoft.com/office/drawing/2014/main" id="{92AD9218-007C-1513-7854-4DDD71E233BD}"/>
              </a:ext>
            </a:extLst>
          </p:cNvPr>
          <p:cNvSpPr txBox="1"/>
          <p:nvPr/>
        </p:nvSpPr>
        <p:spPr>
          <a:xfrm>
            <a:off x="9031528" y="1496897"/>
            <a:ext cx="2102468" cy="369332"/>
          </a:xfrm>
          <a:prstGeom prst="rect">
            <a:avLst/>
          </a:prstGeom>
          <a:noFill/>
        </p:spPr>
        <p:txBody>
          <a:bodyPr wrap="square" rtlCol="0">
            <a:spAutoFit/>
          </a:bodyPr>
          <a:lstStyle/>
          <a:p>
            <a:r>
              <a:rPr lang="en-US" dirty="0">
                <a:solidFill>
                  <a:srgbClr val="FF0000"/>
                </a:solidFill>
                <a:latin typeface="Rockwell" panose="02060603020205020403" pitchFamily="18" charset="0"/>
              </a:rPr>
              <a:t>Final Dashboard</a:t>
            </a:r>
            <a:endParaRPr lang="en-IN" dirty="0">
              <a:solidFill>
                <a:srgbClr val="FF0000"/>
              </a:solidFill>
              <a:latin typeface="Rockwell" panose="02060603020205020403" pitchFamily="18" charset="0"/>
            </a:endParaRPr>
          </a:p>
        </p:txBody>
      </p:sp>
      <p:sp>
        <p:nvSpPr>
          <p:cNvPr id="22" name="Arrow: Right 21">
            <a:extLst>
              <a:ext uri="{FF2B5EF4-FFF2-40B4-BE49-F238E27FC236}">
                <a16:creationId xmlns:a16="http://schemas.microsoft.com/office/drawing/2014/main" id="{873FAAF7-04C2-518E-650C-BEC2C8590AFD}"/>
              </a:ext>
            </a:extLst>
          </p:cNvPr>
          <p:cNvSpPr/>
          <p:nvPr/>
        </p:nvSpPr>
        <p:spPr>
          <a:xfrm>
            <a:off x="2848612" y="5317620"/>
            <a:ext cx="1092631" cy="348712"/>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6" name="Picture 25">
            <a:extLst>
              <a:ext uri="{FF2B5EF4-FFF2-40B4-BE49-F238E27FC236}">
                <a16:creationId xmlns:a16="http://schemas.microsoft.com/office/drawing/2014/main" id="{09DCC6B5-03D6-B3B9-755B-26771F1E484D}"/>
              </a:ext>
            </a:extLst>
          </p:cNvPr>
          <p:cNvPicPr>
            <a:picLocks noChangeAspect="1"/>
          </p:cNvPicPr>
          <p:nvPr/>
        </p:nvPicPr>
        <p:blipFill>
          <a:blip r:embed="rId7"/>
          <a:stretch>
            <a:fillRect/>
          </a:stretch>
        </p:blipFill>
        <p:spPr>
          <a:xfrm>
            <a:off x="7402944" y="4217042"/>
            <a:ext cx="1403026" cy="22011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7" name="Picture 2">
            <a:extLst>
              <a:ext uri="{FF2B5EF4-FFF2-40B4-BE49-F238E27FC236}">
                <a16:creationId xmlns:a16="http://schemas.microsoft.com/office/drawing/2014/main" id="{91FE9B90-F7E2-1989-EC8F-D9DD614B9D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1799" y="4834659"/>
            <a:ext cx="1534874" cy="132592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6016F546-345C-5A3B-42C9-C3E930DFCC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37220" y="4829015"/>
            <a:ext cx="1534874" cy="132592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1" name="Arrow: Right 30">
            <a:extLst>
              <a:ext uri="{FF2B5EF4-FFF2-40B4-BE49-F238E27FC236}">
                <a16:creationId xmlns:a16="http://schemas.microsoft.com/office/drawing/2014/main" id="{6AC9A8B8-E1A4-462D-8145-F8FC352D8637}"/>
              </a:ext>
            </a:extLst>
          </p:cNvPr>
          <p:cNvSpPr/>
          <p:nvPr/>
        </p:nvSpPr>
        <p:spPr>
          <a:xfrm>
            <a:off x="5890407" y="5317620"/>
            <a:ext cx="1092631" cy="348712"/>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TextBox 32">
            <a:extLst>
              <a:ext uri="{FF2B5EF4-FFF2-40B4-BE49-F238E27FC236}">
                <a16:creationId xmlns:a16="http://schemas.microsoft.com/office/drawing/2014/main" id="{47473F74-87D9-013E-7431-4294E7522616}"/>
              </a:ext>
            </a:extLst>
          </p:cNvPr>
          <p:cNvSpPr txBox="1"/>
          <p:nvPr/>
        </p:nvSpPr>
        <p:spPr>
          <a:xfrm>
            <a:off x="902917" y="4378018"/>
            <a:ext cx="2102468" cy="369332"/>
          </a:xfrm>
          <a:prstGeom prst="rect">
            <a:avLst/>
          </a:prstGeom>
          <a:noFill/>
        </p:spPr>
        <p:txBody>
          <a:bodyPr wrap="square" rtlCol="0">
            <a:spAutoFit/>
          </a:bodyPr>
          <a:lstStyle/>
          <a:p>
            <a:r>
              <a:rPr lang="en-US" dirty="0">
                <a:latin typeface="Rockwell" panose="02060603020205020403" pitchFamily="18" charset="0"/>
              </a:rPr>
              <a:t>For</a:t>
            </a:r>
            <a:r>
              <a:rPr lang="en-US" dirty="0">
                <a:solidFill>
                  <a:srgbClr val="FF0000"/>
                </a:solidFill>
                <a:latin typeface="Rockwell" panose="02060603020205020403" pitchFamily="18" charset="0"/>
              </a:rPr>
              <a:t> HTML Code</a:t>
            </a:r>
            <a:endParaRPr lang="en-IN" dirty="0">
              <a:solidFill>
                <a:srgbClr val="FF0000"/>
              </a:solidFill>
              <a:latin typeface="Rockwell" panose="02060603020205020403" pitchFamily="18" charset="0"/>
            </a:endParaRPr>
          </a:p>
        </p:txBody>
      </p:sp>
      <p:sp>
        <p:nvSpPr>
          <p:cNvPr id="34" name="TextBox 33">
            <a:extLst>
              <a:ext uri="{FF2B5EF4-FFF2-40B4-BE49-F238E27FC236}">
                <a16:creationId xmlns:a16="http://schemas.microsoft.com/office/drawing/2014/main" id="{0F233E40-C209-C8EE-ABD7-B3A5CF99C8FB}"/>
              </a:ext>
            </a:extLst>
          </p:cNvPr>
          <p:cNvSpPr txBox="1"/>
          <p:nvPr/>
        </p:nvSpPr>
        <p:spPr>
          <a:xfrm>
            <a:off x="3853422" y="4392883"/>
            <a:ext cx="2242577" cy="369332"/>
          </a:xfrm>
          <a:prstGeom prst="rect">
            <a:avLst/>
          </a:prstGeom>
          <a:noFill/>
        </p:spPr>
        <p:txBody>
          <a:bodyPr wrap="square" rtlCol="0">
            <a:spAutoFit/>
          </a:bodyPr>
          <a:lstStyle/>
          <a:p>
            <a:r>
              <a:rPr lang="en-US" dirty="0">
                <a:latin typeface="Rockwell" panose="02060603020205020403" pitchFamily="18" charset="0"/>
              </a:rPr>
              <a:t>For</a:t>
            </a:r>
            <a:r>
              <a:rPr lang="en-US" dirty="0">
                <a:solidFill>
                  <a:srgbClr val="FF0000"/>
                </a:solidFill>
                <a:latin typeface="Rockwell" panose="02060603020205020403" pitchFamily="18" charset="0"/>
              </a:rPr>
              <a:t> Popper Output</a:t>
            </a:r>
            <a:endParaRPr lang="en-IN" dirty="0">
              <a:solidFill>
                <a:srgbClr val="FF0000"/>
              </a:solidFill>
              <a:latin typeface="Rockwell" panose="02060603020205020403" pitchFamily="18" charset="0"/>
            </a:endParaRPr>
          </a:p>
        </p:txBody>
      </p:sp>
      <p:sp>
        <p:nvSpPr>
          <p:cNvPr id="35" name="TextBox 34">
            <a:extLst>
              <a:ext uri="{FF2B5EF4-FFF2-40B4-BE49-F238E27FC236}">
                <a16:creationId xmlns:a16="http://schemas.microsoft.com/office/drawing/2014/main" id="{7F4893DC-8009-C5DD-662A-1C98C6735744}"/>
              </a:ext>
            </a:extLst>
          </p:cNvPr>
          <p:cNvSpPr txBox="1"/>
          <p:nvPr/>
        </p:nvSpPr>
        <p:spPr>
          <a:xfrm>
            <a:off x="7053223" y="3853485"/>
            <a:ext cx="2102468" cy="369332"/>
          </a:xfrm>
          <a:prstGeom prst="rect">
            <a:avLst/>
          </a:prstGeom>
          <a:noFill/>
        </p:spPr>
        <p:txBody>
          <a:bodyPr wrap="square" rtlCol="0">
            <a:spAutoFit/>
          </a:bodyPr>
          <a:lstStyle/>
          <a:p>
            <a:r>
              <a:rPr lang="en-US" dirty="0">
                <a:solidFill>
                  <a:srgbClr val="FF0000"/>
                </a:solidFill>
                <a:latin typeface="Rockwell" panose="02060603020205020403" pitchFamily="18" charset="0"/>
              </a:rPr>
              <a:t>Final Ai Assistant</a:t>
            </a:r>
            <a:endParaRPr lang="en-IN" dirty="0">
              <a:solidFill>
                <a:srgbClr val="FF0000"/>
              </a:solidFill>
              <a:latin typeface="Rockwell" panose="02060603020205020403" pitchFamily="18" charset="0"/>
            </a:endParaRPr>
          </a:p>
        </p:txBody>
      </p:sp>
    </p:spTree>
    <p:extLst>
      <p:ext uri="{BB962C8B-B14F-4D97-AF65-F5344CB8AC3E}">
        <p14:creationId xmlns:p14="http://schemas.microsoft.com/office/powerpoint/2010/main" val="1438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0242" name="Title 1"/>
          <p:cNvSpPr txBox="1"/>
          <p:nvPr/>
        </p:nvSpPr>
        <p:spPr>
          <a:xfrm>
            <a:off x="2476500" y="409892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sp>
        <p:nvSpPr>
          <p:cNvPr id="10243" name="TextBox 7"/>
          <p:cNvSpPr txBox="1"/>
          <p:nvPr/>
        </p:nvSpPr>
        <p:spPr>
          <a:xfrm>
            <a:off x="289441" y="813406"/>
            <a:ext cx="7159625" cy="369887"/>
          </a:xfrm>
          <a:prstGeom prst="rect">
            <a:avLst/>
          </a:prstGeom>
          <a:noFill/>
          <a:ln w="9525">
            <a:noFill/>
          </a:ln>
        </p:spPr>
        <p:txBody>
          <a:bodyPr anchor="t" anchorCtr="0">
            <a:spAutoFit/>
          </a:bodyPr>
          <a:lstStyle/>
          <a:p>
            <a:pPr eaLnBrk="0" hangingPunct="0"/>
            <a:r>
              <a:rPr lang="en-US" altLang="en-US" dirty="0">
                <a:latin typeface="Rockwell" panose="02060603020205020403" pitchFamily="18" charset="0"/>
              </a:rPr>
              <a:t>Expected output of the project</a:t>
            </a:r>
            <a:endParaRPr lang="en-US" altLang="en-US" dirty="0">
              <a:latin typeface="Rockwell" panose="02060603020205020403" pitchFamily="18" charset="0"/>
              <a:ea typeface="Times New Roman" panose="02020603050405020304" pitchFamily="18"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Expected Result</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pic>
        <p:nvPicPr>
          <p:cNvPr id="3" name="Picture 2">
            <a:extLst>
              <a:ext uri="{FF2B5EF4-FFF2-40B4-BE49-F238E27FC236}">
                <a16:creationId xmlns:a16="http://schemas.microsoft.com/office/drawing/2014/main" id="{A50FEFE5-4D43-940C-6043-0416C7EC4282}"/>
              </a:ext>
            </a:extLst>
          </p:cNvPr>
          <p:cNvPicPr>
            <a:picLocks noChangeAspect="1"/>
          </p:cNvPicPr>
          <p:nvPr/>
        </p:nvPicPr>
        <p:blipFill>
          <a:blip r:embed="rId3"/>
          <a:stretch>
            <a:fillRect/>
          </a:stretch>
        </p:blipFill>
        <p:spPr>
          <a:xfrm>
            <a:off x="88474" y="1422995"/>
            <a:ext cx="8381829" cy="47185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Plus Sign 3">
            <a:extLst>
              <a:ext uri="{FF2B5EF4-FFF2-40B4-BE49-F238E27FC236}">
                <a16:creationId xmlns:a16="http://schemas.microsoft.com/office/drawing/2014/main" id="{1BA60A46-49E4-E06A-2A87-A23AD76E7C78}"/>
              </a:ext>
            </a:extLst>
          </p:cNvPr>
          <p:cNvSpPr/>
          <p:nvPr/>
        </p:nvSpPr>
        <p:spPr>
          <a:xfrm>
            <a:off x="8470303" y="3429002"/>
            <a:ext cx="593310" cy="560406"/>
          </a:xfrm>
          <a:prstGeom prst="mathPlus">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DB223B4A-E293-981E-38F4-F5262626FBD5}"/>
              </a:ext>
            </a:extLst>
          </p:cNvPr>
          <p:cNvPicPr>
            <a:picLocks noChangeAspect="1"/>
          </p:cNvPicPr>
          <p:nvPr/>
        </p:nvPicPr>
        <p:blipFill>
          <a:blip r:embed="rId4"/>
          <a:stretch>
            <a:fillRect/>
          </a:stretch>
        </p:blipFill>
        <p:spPr>
          <a:xfrm>
            <a:off x="9143999" y="1422995"/>
            <a:ext cx="2819707" cy="4531756"/>
          </a:xfrm>
          <a:prstGeom prst="roundRect">
            <a:avLst>
              <a:gd name="adj" fmla="val 318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1266" name="Title 1"/>
          <p:cNvSpPr txBox="1"/>
          <p:nvPr/>
        </p:nvSpPr>
        <p:spPr>
          <a:xfrm>
            <a:off x="2293938" y="205422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graphicFrame>
        <p:nvGraphicFramePr>
          <p:cNvPr id="10244" name="Table 10243"/>
          <p:cNvGraphicFramePr/>
          <p:nvPr>
            <p:extLst>
              <p:ext uri="{D42A27DB-BD31-4B8C-83A1-F6EECF244321}">
                <p14:modId xmlns:p14="http://schemas.microsoft.com/office/powerpoint/2010/main" val="971717612"/>
              </p:ext>
            </p:extLst>
          </p:nvPr>
        </p:nvGraphicFramePr>
        <p:xfrm>
          <a:off x="591015" y="867868"/>
          <a:ext cx="11030414" cy="5462288"/>
        </p:xfrm>
        <a:graphic>
          <a:graphicData uri="http://schemas.openxmlformats.org/drawingml/2006/table">
            <a:tbl>
              <a:tblPr>
                <a:tableStyleId>{C4B1156A-380E-4F78-BDF5-A606A8083BF9}</a:tableStyleId>
              </a:tblPr>
              <a:tblGrid>
                <a:gridCol w="5772117">
                  <a:extLst>
                    <a:ext uri="{9D8B030D-6E8A-4147-A177-3AD203B41FA5}">
                      <a16:colId xmlns:a16="http://schemas.microsoft.com/office/drawing/2014/main" val="20000"/>
                    </a:ext>
                  </a:extLst>
                </a:gridCol>
                <a:gridCol w="1667556">
                  <a:extLst>
                    <a:ext uri="{9D8B030D-6E8A-4147-A177-3AD203B41FA5}">
                      <a16:colId xmlns:a16="http://schemas.microsoft.com/office/drawing/2014/main" val="20001"/>
                    </a:ext>
                  </a:extLst>
                </a:gridCol>
                <a:gridCol w="1830307">
                  <a:extLst>
                    <a:ext uri="{9D8B030D-6E8A-4147-A177-3AD203B41FA5}">
                      <a16:colId xmlns:a16="http://schemas.microsoft.com/office/drawing/2014/main" val="20002"/>
                    </a:ext>
                  </a:extLst>
                </a:gridCol>
                <a:gridCol w="1760434">
                  <a:extLst>
                    <a:ext uri="{9D8B030D-6E8A-4147-A177-3AD203B41FA5}">
                      <a16:colId xmlns:a16="http://schemas.microsoft.com/office/drawing/2014/main" val="20003"/>
                    </a:ext>
                  </a:extLst>
                </a:gridCol>
              </a:tblGrid>
              <a:tr h="85739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sz="1600" b="1" dirty="0"/>
                        <a:t> Months  Activities</a:t>
                      </a:r>
                      <a:endParaRPr lang="en-US" sz="1600" b="1" dirty="0">
                        <a:latin typeface="Times New Roman" panose="02020603050405020304" pitchFamily="18" charset="0"/>
                        <a:ea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t>JULY</a:t>
                      </a:r>
                      <a:r>
                        <a:rPr sz="1600" b="1" dirty="0"/>
                        <a:t>’</a:t>
                      </a:r>
                      <a:r>
                        <a:rPr lang="en-US" sz="1600" b="1" dirty="0"/>
                        <a:t>26</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t>AUG’26</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1600" b="1" dirty="0"/>
                    </a:p>
                    <a:p>
                      <a:pPr marL="0" marR="0" lvl="0" indent="0" algn="ctr" defTabSz="914400" rtl="0" eaLnBrk="1" fontAlgn="base" latinLnBrk="0" hangingPunct="1">
                        <a:lnSpc>
                          <a:spcPct val="115000"/>
                        </a:lnSpc>
                        <a:spcBef>
                          <a:spcPct val="0"/>
                        </a:spcBef>
                        <a:spcAft>
                          <a:spcPct val="0"/>
                        </a:spcAft>
                        <a:buClrTx/>
                        <a:buSzTx/>
                        <a:buFontTx/>
                        <a:buNone/>
                        <a:tabLst/>
                        <a:defRPr/>
                      </a:pPr>
                      <a:r>
                        <a:rPr lang="en-US" sz="1600" b="1" dirty="0"/>
                        <a:t>SEPT’26</a:t>
                      </a: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p>
                      <a:pPr lvl="0" algn="ctr" eaLnBrk="1" hangingPunct="1">
                        <a:lnSpc>
                          <a:spcPct val="115000"/>
                        </a:lnSpc>
                        <a:buNone/>
                      </a:pPr>
                      <a:endParaRPr lang="en-US" sz="1600" b="1"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7" marR="68587" marT="0" marB="0" anchor="ctr"/>
                </a:tc>
                <a:extLst>
                  <a:ext uri="{0D108BD9-81ED-4DB2-BD59-A6C34878D82A}">
                    <a16:rowId xmlns:a16="http://schemas.microsoft.com/office/drawing/2014/main" val="10000"/>
                  </a:ext>
                </a:extLst>
              </a:tr>
              <a:tr h="55822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Arial" panose="020B0604020202020204" pitchFamily="34" charset="0"/>
                          <a:ea typeface="Times New Roman" panose="02020603050405020304" pitchFamily="18" charset="0"/>
                          <a:cs typeface="Arial" panose="020B0604020202020204" pitchFamily="34" charset="0"/>
                        </a:rPr>
                        <a:t>Finding Dataset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rgbClr val="00B050"/>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extLst>
                  <a:ext uri="{0D108BD9-81ED-4DB2-BD59-A6C34878D82A}">
                    <a16:rowId xmlns:a16="http://schemas.microsoft.com/office/drawing/2014/main" val="10001"/>
                  </a:ext>
                </a:extLst>
              </a:tr>
              <a:tr h="600152">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Arial" panose="020B0604020202020204" pitchFamily="34" charset="0"/>
                          <a:ea typeface="Times New Roman" panose="02020603050405020304" pitchFamily="18" charset="0"/>
                          <a:cs typeface="Arial" panose="020B0604020202020204" pitchFamily="34" charset="0"/>
                        </a:rPr>
                        <a:t>Data Cleaning</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chemeClr val="dk1"/>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extLst>
                  <a:ext uri="{0D108BD9-81ED-4DB2-BD59-A6C34878D82A}">
                    <a16:rowId xmlns:a16="http://schemas.microsoft.com/office/drawing/2014/main" val="10002"/>
                  </a:ext>
                </a:extLst>
              </a:tr>
              <a:tr h="57276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Arial" panose="020B0604020202020204" pitchFamily="34" charset="0"/>
                          <a:ea typeface="Times New Roman" panose="02020603050405020304" pitchFamily="18" charset="0"/>
                          <a:cs typeface="Arial" panose="020B0604020202020204" pitchFamily="34" charset="0"/>
                        </a:rPr>
                        <a:t>Data Insert &amp; Add</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chemeClr val="dk1"/>
                          </a:solidFill>
                          <a:latin typeface="+mn-lt"/>
                          <a:ea typeface="+mn-ea"/>
                          <a:cs typeface="+mn-cs"/>
                        </a:rPr>
                        <a:t>☑️</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extLst>
                  <a:ext uri="{0D108BD9-81ED-4DB2-BD59-A6C34878D82A}">
                    <a16:rowId xmlns:a16="http://schemas.microsoft.com/office/drawing/2014/main" val="10003"/>
                  </a:ext>
                </a:extLst>
              </a:tr>
              <a:tr h="574626">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Arial" panose="020B0604020202020204" pitchFamily="34" charset="0"/>
                          <a:ea typeface="Times New Roman" panose="02020603050405020304" pitchFamily="18" charset="0"/>
                          <a:cs typeface="Arial" panose="020B0604020202020204" pitchFamily="34" charset="0"/>
                        </a:rPr>
                        <a:t>D</a:t>
                      </a:r>
                      <a:r>
                        <a:rPr lang="en-IN" sz="1600" b="1" dirty="0">
                          <a:latin typeface="Arial" panose="020B0604020202020204" pitchFamily="34" charset="0"/>
                          <a:ea typeface="Times New Roman" panose="02020603050405020304" pitchFamily="18" charset="0"/>
                          <a:cs typeface="Arial" panose="020B0604020202020204" pitchFamily="34" charset="0"/>
                        </a:rPr>
                        <a:t>ashboard Creation using KPIs</a:t>
                      </a:r>
                      <a:endParaRPr lang="en-US" sz="1600" b="1" dirty="0">
                        <a:latin typeface="Arial" panose="020B0604020202020204" pitchFamily="34" charset="0"/>
                        <a:ea typeface="Times New Roman" panose="02020603050405020304" pitchFamily="18" charset="0"/>
                        <a:cs typeface="Arial" panose="020B0604020202020204" pitchFamily="34" charset="0"/>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chemeClr val="dk1"/>
                          </a:solidFill>
                          <a:latin typeface="+mn-lt"/>
                          <a:ea typeface="+mn-ea"/>
                          <a:cs typeface="+mn-cs"/>
                        </a:rPr>
                        <a:t>☑️</a:t>
                      </a:r>
                      <a:endParaRPr lang="en-IN"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chemeClr val="dk1"/>
                          </a:solidFill>
                          <a:latin typeface="+mn-lt"/>
                          <a:ea typeface="+mn-ea"/>
                          <a:cs typeface="+mn-cs"/>
                        </a:rPr>
                        <a:t>☑️</a:t>
                      </a:r>
                    </a:p>
                  </a:txBody>
                  <a:tcPr marL="68587" marR="68587" marT="0" marB="0" anchor="ctr"/>
                </a:tc>
                <a:extLst>
                  <a:ext uri="{0D108BD9-81ED-4DB2-BD59-A6C34878D82A}">
                    <a16:rowId xmlns:a16="http://schemas.microsoft.com/office/drawing/2014/main" val="10004"/>
                  </a:ext>
                </a:extLst>
              </a:tr>
              <a:tr h="5752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1600" b="1" dirty="0">
                          <a:latin typeface="Arial" panose="020B0604020202020204" pitchFamily="34" charset="0"/>
                          <a:ea typeface="Times New Roman" panose="02020603050405020304" pitchFamily="18" charset="0"/>
                          <a:cs typeface="Arial" panose="020B0604020202020204" pitchFamily="34" charset="0"/>
                        </a:rPr>
                        <a:t>C</a:t>
                      </a:r>
                      <a:r>
                        <a:rPr lang="en-IN" sz="1600" b="1" dirty="0">
                          <a:latin typeface="Arial" panose="020B0604020202020204" pitchFamily="34" charset="0"/>
                          <a:ea typeface="Times New Roman" panose="02020603050405020304" pitchFamily="18" charset="0"/>
                          <a:cs typeface="Arial" panose="020B0604020202020204" pitchFamily="34" charset="0"/>
                        </a:rPr>
                        <a:t>olouring</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chemeClr val="dk1"/>
                          </a:solidFill>
                          <a:latin typeface="+mn-lt"/>
                          <a:ea typeface="+mn-ea"/>
                          <a:cs typeface="+mn-cs"/>
                        </a:rPr>
                        <a:t>☑️</a:t>
                      </a:r>
                    </a:p>
                  </a:txBody>
                  <a:tcPr marL="68587" marR="68587" marT="0" marB="0" anchor="ctr"/>
                </a:tc>
                <a:extLst>
                  <a:ext uri="{0D108BD9-81ED-4DB2-BD59-A6C34878D82A}">
                    <a16:rowId xmlns:a16="http://schemas.microsoft.com/office/drawing/2014/main" val="10005"/>
                  </a:ext>
                </a:extLst>
              </a:tr>
              <a:tr h="574626">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Arial" panose="020B0604020202020204" pitchFamily="34" charset="0"/>
                          <a:ea typeface="Times New Roman" panose="02020603050405020304" pitchFamily="18" charset="0"/>
                          <a:cs typeface="Arial" panose="020B0604020202020204" pitchFamily="34" charset="0"/>
                        </a:rPr>
                        <a:t>Design</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chemeClr val="dk1"/>
                          </a:solidFill>
                          <a:latin typeface="+mn-lt"/>
                          <a:ea typeface="+mn-ea"/>
                          <a:cs typeface="+mn-cs"/>
                        </a:rPr>
                        <a:t>☑️</a:t>
                      </a:r>
                      <a:endParaRPr lang="en-IN" sz="2800" b="1" kern="1200" dirty="0">
                        <a:solidFill>
                          <a:schemeClr val="dk1"/>
                        </a:solidFill>
                        <a:latin typeface="+mn-lt"/>
                        <a:ea typeface="+mn-ea"/>
                        <a:cs typeface="+mn-cs"/>
                      </a:endParaRPr>
                    </a:p>
                  </a:txBody>
                  <a:tcPr marL="68587" marR="68587" marT="0" marB="0" anchor="ctr"/>
                </a:tc>
                <a:extLst>
                  <a:ext uri="{0D108BD9-81ED-4DB2-BD59-A6C34878D82A}">
                    <a16:rowId xmlns:a16="http://schemas.microsoft.com/office/drawing/2014/main" val="10006"/>
                  </a:ext>
                </a:extLst>
              </a:tr>
              <a:tr h="574626">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lnSpc>
                          <a:spcPct val="115000"/>
                        </a:lnSpc>
                        <a:buNone/>
                      </a:pPr>
                      <a:r>
                        <a:rPr lang="en-US" sz="1600" b="1" dirty="0">
                          <a:latin typeface="Arial" panose="020B0604020202020204" pitchFamily="34" charset="0"/>
                          <a:ea typeface="Times New Roman" panose="02020603050405020304" pitchFamily="18" charset="0"/>
                          <a:cs typeface="Arial" panose="020B0604020202020204" pitchFamily="34" charset="0"/>
                        </a:rPr>
                        <a:t>Built AI Assistant Using ChatGPT &amp; VS Code </a:t>
                      </a: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US"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endParaRPr lang="en-IN" sz="2800" b="1" kern="1200" dirty="0">
                        <a:solidFill>
                          <a:schemeClr val="dk1"/>
                        </a:solidFill>
                        <a:latin typeface="+mn-lt"/>
                        <a:ea typeface="+mn-ea"/>
                        <a:cs typeface="+mn-cs"/>
                      </a:endParaRPr>
                    </a:p>
                  </a:txBody>
                  <a:tcPr marL="68587" marR="68587" marT="0" marB="0" anchor="ct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marL="0" marR="0" lvl="0" indent="0" algn="ctr" defTabSz="914400" rtl="0" eaLnBrk="1" fontAlgn="base" latinLnBrk="0" hangingPunct="1">
                        <a:lnSpc>
                          <a:spcPct val="115000"/>
                        </a:lnSpc>
                        <a:spcBef>
                          <a:spcPct val="0"/>
                        </a:spcBef>
                        <a:spcAft>
                          <a:spcPct val="0"/>
                        </a:spcAft>
                        <a:buClrTx/>
                        <a:buSzTx/>
                        <a:buFontTx/>
                        <a:buNone/>
                        <a:tabLst/>
                        <a:defRPr/>
                      </a:pPr>
                      <a:r>
                        <a:rPr lang="en-US" sz="2800" b="1" kern="1200" dirty="0">
                          <a:solidFill>
                            <a:schemeClr val="dk1"/>
                          </a:solidFill>
                          <a:latin typeface="+mn-lt"/>
                          <a:ea typeface="+mn-ea"/>
                          <a:cs typeface="+mn-cs"/>
                        </a:rPr>
                        <a:t>☑️</a:t>
                      </a:r>
                      <a:endParaRPr lang="en-IN" sz="2800" b="1" kern="1200" dirty="0">
                        <a:solidFill>
                          <a:schemeClr val="dk1"/>
                        </a:solidFill>
                        <a:latin typeface="+mn-lt"/>
                        <a:ea typeface="+mn-ea"/>
                        <a:cs typeface="+mn-cs"/>
                      </a:endParaRPr>
                    </a:p>
                  </a:txBody>
                  <a:tcPr marL="68587" marR="68587" marT="0" marB="0" anchor="ctr"/>
                </a:tc>
                <a:extLst>
                  <a:ext uri="{0D108BD9-81ED-4DB2-BD59-A6C34878D82A}">
                    <a16:rowId xmlns:a16="http://schemas.microsoft.com/office/drawing/2014/main" val="10007"/>
                  </a:ext>
                </a:extLst>
              </a:tr>
              <a:tr h="574626">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600" b="1" i="0" u="none" kern="1200" baseline="0" dirty="0">
                          <a:solidFill>
                            <a:schemeClr val="tx1"/>
                          </a:solidFill>
                          <a:latin typeface="Arial" panose="020B0604020202020204" pitchFamily="34" charset="0"/>
                          <a:ea typeface="+mn-ea"/>
                          <a:cs typeface="+mn-cs"/>
                        </a:rPr>
                        <a:t>Final Testing on Creating System</a:t>
                      </a:r>
                    </a:p>
                  </a:txBody>
                  <a:tcPr marL="68587" marR="68587" marT="0" marB="0" anchor="ctr"/>
                </a:tc>
                <a:tc>
                  <a:txBody>
                    <a:bodyPr/>
                    <a:lstStyle/>
                    <a:p>
                      <a:pPr lvl="0" algn="ctr" eaLnBrk="1" hangingPunct="1">
                        <a:lnSpc>
                          <a:spcPct val="115000"/>
                        </a:lnSpc>
                        <a:buNone/>
                      </a:pPr>
                      <a:endParaRPr lang="en-US" sz="2800" b="1" dirty="0">
                        <a:latin typeface="Times New Roman" panose="02020603050405020304" pitchFamily="18" charset="0"/>
                        <a:ea typeface="Times New Roman" panose="02020603050405020304" pitchFamily="18" charset="0"/>
                      </a:endParaRPr>
                    </a:p>
                  </a:txBody>
                  <a:tcPr marL="68587" marR="68587" marT="0" marB="0" anchor="ctr"/>
                </a:tc>
                <a:tc>
                  <a:txBody>
                    <a:bodyPr/>
                    <a:lstStyle/>
                    <a:p>
                      <a:pPr lvl="0" algn="ctr" eaLnBrk="1" hangingPunct="1">
                        <a:lnSpc>
                          <a:spcPct val="115000"/>
                        </a:lnSpc>
                        <a:buNone/>
                      </a:pPr>
                      <a:r>
                        <a:rPr lang="en-US" sz="2800" b="1" dirty="0">
                          <a:latin typeface="Times New Roman" panose="02020603050405020304" pitchFamily="18" charset="0"/>
                          <a:ea typeface="Times New Roman" panose="02020603050405020304" pitchFamily="18" charset="0"/>
                        </a:rPr>
                        <a:t>☑️</a:t>
                      </a:r>
                    </a:p>
                  </a:txBody>
                  <a:tcPr marL="68587" marR="68587" marT="0" marB="0" anchor="ctr"/>
                </a:tc>
                <a:tc>
                  <a:txBody>
                    <a:bodyPr/>
                    <a:lstStyle/>
                    <a:p>
                      <a:pPr lvl="0" algn="ctr" eaLnBrk="1" hangingPunct="1">
                        <a:lnSpc>
                          <a:spcPct val="115000"/>
                        </a:lnSpc>
                        <a:buNone/>
                      </a:pPr>
                      <a:r>
                        <a:rPr lang="en-US" sz="2800" b="1" dirty="0">
                          <a:latin typeface="Times New Roman" panose="02020603050405020304" pitchFamily="18" charset="0"/>
                          <a:ea typeface="Times New Roman" panose="02020603050405020304" pitchFamily="18" charset="0"/>
                        </a:rPr>
                        <a:t>☑️</a:t>
                      </a:r>
                    </a:p>
                  </a:txBody>
                  <a:tcPr marL="68587" marR="68587" marT="0" marB="0" anchor="ctr"/>
                </a:tc>
                <a:extLst>
                  <a:ext uri="{0D108BD9-81ED-4DB2-BD59-A6C34878D82A}">
                    <a16:rowId xmlns:a16="http://schemas.microsoft.com/office/drawing/2014/main" val="10008"/>
                  </a:ext>
                </a:extLst>
              </a:tr>
            </a:tbl>
          </a:graphicData>
        </a:graphic>
      </p:graphicFrame>
      <p:sp>
        <p:nvSpPr>
          <p:cNvPr id="14"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Work – Plan </a:t>
            </a: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References</a:t>
            </a:r>
          </a:p>
        </p:txBody>
      </p:sp>
      <p:pic>
        <p:nvPicPr>
          <p:cNvPr id="11" name="Picture 10"/>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4" name="TextBox 3">
            <a:extLst>
              <a:ext uri="{FF2B5EF4-FFF2-40B4-BE49-F238E27FC236}">
                <a16:creationId xmlns:a16="http://schemas.microsoft.com/office/drawing/2014/main" id="{D47C4163-CAF2-8F4D-8350-AD1E79CDFE8D}"/>
              </a:ext>
            </a:extLst>
          </p:cNvPr>
          <p:cNvSpPr txBox="1"/>
          <p:nvPr/>
        </p:nvSpPr>
        <p:spPr>
          <a:xfrm>
            <a:off x="399393" y="1330047"/>
            <a:ext cx="9375228" cy="5355312"/>
          </a:xfrm>
          <a:prstGeom prst="rect">
            <a:avLst/>
          </a:prstGeom>
          <a:noFill/>
        </p:spPr>
        <p:txBody>
          <a:bodyPr wrap="square" rtlCol="0">
            <a:spAutoFit/>
          </a:bodyPr>
          <a:lstStyle/>
          <a:p>
            <a:pPr algn="just"/>
            <a:r>
              <a:rPr lang="en-US" u="sng" dirty="0">
                <a:latin typeface="Rockwell" panose="02060603020205020403" pitchFamily="18" charset="0"/>
              </a:rPr>
              <a:t>1. Data </a:t>
            </a:r>
            <a:r>
              <a:rPr lang="en-US" u="sng" dirty="0">
                <a:solidFill>
                  <a:srgbClr val="FF0000"/>
                </a:solidFill>
                <a:latin typeface="Rockwell" panose="02060603020205020403" pitchFamily="18" charset="0"/>
              </a:rPr>
              <a:t>Collection</a:t>
            </a:r>
          </a:p>
          <a:p>
            <a:pPr algn="just"/>
            <a:endParaRPr lang="en-US" dirty="0">
              <a:latin typeface="Rockwell" panose="02060603020205020403" pitchFamily="18" charset="0"/>
            </a:endParaRPr>
          </a:p>
          <a:p>
            <a:pPr algn="just"/>
            <a:r>
              <a:rPr lang="en-US" dirty="0">
                <a:latin typeface="Rockwell" panose="02060603020205020403" pitchFamily="18" charset="0"/>
              </a:rPr>
              <a:t>Using:- </a:t>
            </a:r>
            <a:r>
              <a:rPr lang="en-US" dirty="0">
                <a:solidFill>
                  <a:srgbClr val="FF0000"/>
                </a:solidFill>
                <a:latin typeface="Rockwell" panose="02060603020205020403" pitchFamily="18" charset="0"/>
              </a:rPr>
              <a:t>Kaggle.com</a:t>
            </a:r>
          </a:p>
          <a:p>
            <a:pPr algn="just"/>
            <a:r>
              <a:rPr lang="en-US" dirty="0">
                <a:solidFill>
                  <a:srgbClr val="FFFF00"/>
                </a:solidFill>
                <a:latin typeface="Rockwell" panose="02060603020205020403" pitchFamily="18" charset="0"/>
              </a:rPr>
              <a:t>‘</a:t>
            </a:r>
            <a:r>
              <a:rPr lang="en-US" dirty="0">
                <a:latin typeface="Rockwell" panose="02060603020205020403" pitchFamily="18" charset="0"/>
              </a:rPr>
              <a:t>Collection of  Employees Dataset  in  .csv format.</a:t>
            </a:r>
            <a:r>
              <a:rPr lang="en-US" dirty="0">
                <a:solidFill>
                  <a:srgbClr val="FFFF00"/>
                </a:solidFill>
                <a:latin typeface="Rockwell" panose="02060603020205020403" pitchFamily="18" charset="0"/>
              </a:rPr>
              <a:t>’’</a:t>
            </a:r>
            <a:endParaRPr lang="en-IN" dirty="0">
              <a:solidFill>
                <a:srgbClr val="FFFF00"/>
              </a:solidFill>
              <a:latin typeface="Rockwell" panose="02060603020205020403" pitchFamily="18" charset="0"/>
            </a:endParaRPr>
          </a:p>
          <a:p>
            <a:pPr algn="just"/>
            <a:endParaRPr lang="en-IN" dirty="0">
              <a:latin typeface="Rockwell" panose="02060603020205020403" pitchFamily="18" charset="0"/>
            </a:endParaRPr>
          </a:p>
          <a:p>
            <a:pPr algn="just"/>
            <a:endParaRPr lang="en-IN" dirty="0">
              <a:latin typeface="Rockwell" panose="02060603020205020403" pitchFamily="18" charset="0"/>
            </a:endParaRPr>
          </a:p>
          <a:p>
            <a:pPr algn="just"/>
            <a:r>
              <a:rPr lang="en-IN" u="sng" dirty="0">
                <a:latin typeface="Rockwell" panose="02060603020205020403" pitchFamily="18" charset="0"/>
              </a:rPr>
              <a:t>2. Data </a:t>
            </a:r>
            <a:r>
              <a:rPr lang="en-IN" u="sng" dirty="0">
                <a:solidFill>
                  <a:srgbClr val="FF0000"/>
                </a:solidFill>
                <a:latin typeface="Rockwell" panose="02060603020205020403" pitchFamily="18" charset="0"/>
              </a:rPr>
              <a:t>Cleaning</a:t>
            </a:r>
          </a:p>
          <a:p>
            <a:pPr algn="just"/>
            <a:endParaRPr lang="en-IN" dirty="0">
              <a:latin typeface="Rockwell" panose="02060603020205020403" pitchFamily="18" charset="0"/>
            </a:endParaRPr>
          </a:p>
          <a:p>
            <a:pPr algn="just"/>
            <a:r>
              <a:rPr lang="en-IN" dirty="0">
                <a:latin typeface="Rockwell" panose="02060603020205020403" pitchFamily="18" charset="0"/>
              </a:rPr>
              <a:t>Using:- </a:t>
            </a:r>
            <a:r>
              <a:rPr lang="en-IN" dirty="0">
                <a:solidFill>
                  <a:srgbClr val="FF0000"/>
                </a:solidFill>
                <a:latin typeface="Rockwell" panose="02060603020205020403" pitchFamily="18" charset="0"/>
              </a:rPr>
              <a:t>Excel</a:t>
            </a:r>
          </a:p>
          <a:p>
            <a:pPr algn="just"/>
            <a:r>
              <a:rPr lang="en-US" dirty="0">
                <a:solidFill>
                  <a:srgbClr val="FFFF00"/>
                </a:solidFill>
                <a:latin typeface="Rockwell" panose="02060603020205020403" pitchFamily="18" charset="0"/>
              </a:rPr>
              <a:t>‘</a:t>
            </a:r>
            <a:r>
              <a:rPr lang="en-US" dirty="0">
                <a:latin typeface="Rockwell" panose="02060603020205020403" pitchFamily="18" charset="0"/>
              </a:rPr>
              <a:t>We cleaned the data by checking missing values, removing duplicate, correcting wrong data, fixing spelling, removing unwanted data, and correcting data types.</a:t>
            </a:r>
            <a:r>
              <a:rPr lang="en-US" dirty="0">
                <a:solidFill>
                  <a:srgbClr val="FFFF00"/>
                </a:solidFill>
                <a:latin typeface="Rockwell" panose="02060603020205020403" pitchFamily="18" charset="0"/>
              </a:rPr>
              <a:t>’</a:t>
            </a:r>
            <a:endParaRPr lang="en-IN" dirty="0">
              <a:solidFill>
                <a:srgbClr val="FFFF00"/>
              </a:solidFill>
              <a:latin typeface="Rockwell" panose="02060603020205020403" pitchFamily="18" charset="0"/>
            </a:endParaRPr>
          </a:p>
          <a:p>
            <a:pPr algn="just"/>
            <a:endParaRPr lang="en-IN" dirty="0">
              <a:latin typeface="Rockwell" panose="02060603020205020403" pitchFamily="18" charset="0"/>
            </a:endParaRPr>
          </a:p>
          <a:p>
            <a:pPr algn="just"/>
            <a:endParaRPr lang="en-IN" dirty="0">
              <a:latin typeface="Rockwell" panose="02060603020205020403" pitchFamily="18" charset="0"/>
            </a:endParaRPr>
          </a:p>
          <a:p>
            <a:pPr algn="just"/>
            <a:r>
              <a:rPr lang="en-IN" u="sng" dirty="0">
                <a:latin typeface="Rockwell" panose="02060603020205020403" pitchFamily="18" charset="0"/>
              </a:rPr>
              <a:t>3. Data </a:t>
            </a:r>
            <a:r>
              <a:rPr lang="en-IN" u="sng" dirty="0">
                <a:solidFill>
                  <a:srgbClr val="FF0000"/>
                </a:solidFill>
                <a:latin typeface="Rockwell" panose="02060603020205020403" pitchFamily="18" charset="0"/>
              </a:rPr>
              <a:t>insert &amp; add</a:t>
            </a:r>
          </a:p>
          <a:p>
            <a:pPr algn="just"/>
            <a:endParaRPr lang="en-IN" dirty="0">
              <a:latin typeface="Rockwell" panose="02060603020205020403" pitchFamily="18" charset="0"/>
            </a:endParaRPr>
          </a:p>
          <a:p>
            <a:pPr algn="just"/>
            <a:r>
              <a:rPr lang="en-IN" dirty="0">
                <a:latin typeface="Rockwell" panose="02060603020205020403" pitchFamily="18" charset="0"/>
              </a:rPr>
              <a:t>Using:- </a:t>
            </a:r>
            <a:r>
              <a:rPr lang="en-IN" dirty="0">
                <a:solidFill>
                  <a:srgbClr val="FF0000"/>
                </a:solidFill>
                <a:latin typeface="Rockwell" panose="02060603020205020403" pitchFamily="18" charset="0"/>
              </a:rPr>
              <a:t>Power BI Get Data</a:t>
            </a:r>
          </a:p>
          <a:p>
            <a:pPr algn="just"/>
            <a:r>
              <a:rPr lang="en-US" dirty="0">
                <a:solidFill>
                  <a:srgbClr val="FFFF00"/>
                </a:solidFill>
                <a:latin typeface="Rockwell" panose="02060603020205020403" pitchFamily="18" charset="0"/>
              </a:rPr>
              <a:t>‘</a:t>
            </a:r>
            <a:r>
              <a:rPr lang="en-US" dirty="0">
                <a:latin typeface="Rockwell" panose="02060603020205020403" pitchFamily="18" charset="0"/>
              </a:rPr>
              <a:t>We load the complete cleaned data into Power BI Desktop.</a:t>
            </a:r>
            <a:r>
              <a:rPr lang="en-US" dirty="0">
                <a:solidFill>
                  <a:srgbClr val="FFFF00"/>
                </a:solidFill>
                <a:latin typeface="Rockwell" panose="02060603020205020403" pitchFamily="18" charset="0"/>
              </a:rPr>
              <a:t>‘</a:t>
            </a:r>
            <a:endParaRPr lang="en-IN" dirty="0">
              <a:solidFill>
                <a:srgbClr val="FFFF00"/>
              </a:solidFill>
              <a:latin typeface="Rockwell" panose="02060603020205020403" pitchFamily="18" charset="0"/>
            </a:endParaRPr>
          </a:p>
          <a:p>
            <a:pPr algn="just"/>
            <a:endParaRPr lang="en-IN" dirty="0">
              <a:latin typeface="Rockwell" panose="02060603020205020403" pitchFamily="18" charset="0"/>
            </a:endParaRPr>
          </a:p>
          <a:p>
            <a:pPr algn="just"/>
            <a:endParaRPr lang="en-IN" dirty="0">
              <a:latin typeface="Rockwell" panose="02060603020205020403" pitchFamily="18" charset="0"/>
            </a:endParaRPr>
          </a:p>
        </p:txBody>
      </p:sp>
      <p:sp>
        <p:nvSpPr>
          <p:cNvPr id="6" name="TextBox 5">
            <a:extLst>
              <a:ext uri="{FF2B5EF4-FFF2-40B4-BE49-F238E27FC236}">
                <a16:creationId xmlns:a16="http://schemas.microsoft.com/office/drawing/2014/main" id="{6957E2B7-AEC0-DB6F-A199-8ACFBA182E5A}"/>
              </a:ext>
            </a:extLst>
          </p:cNvPr>
          <p:cNvSpPr txBox="1"/>
          <p:nvPr/>
        </p:nvSpPr>
        <p:spPr>
          <a:xfrm>
            <a:off x="5087007" y="800239"/>
            <a:ext cx="2023353" cy="400110"/>
          </a:xfrm>
          <a:prstGeom prst="rect">
            <a:avLst/>
          </a:prstGeom>
          <a:noFill/>
        </p:spPr>
        <p:txBody>
          <a:bodyPr wrap="square" rtlCol="0">
            <a:spAutoFit/>
          </a:bodyPr>
          <a:lstStyle/>
          <a:p>
            <a:pPr algn="just"/>
            <a:r>
              <a:rPr lang="en-US" dirty="0">
                <a:latin typeface="Rockwell" panose="02060603020205020403" pitchFamily="18" charset="0"/>
              </a:rPr>
              <a:t> </a:t>
            </a:r>
            <a:r>
              <a:rPr lang="en-US" sz="2000" dirty="0">
                <a:latin typeface="Rockwell" panose="02060603020205020403" pitchFamily="18" charset="0"/>
              </a:rPr>
              <a:t>For </a:t>
            </a:r>
            <a:r>
              <a:rPr lang="en-US" sz="2000" dirty="0">
                <a:solidFill>
                  <a:srgbClr val="FF0000"/>
                </a:solidFill>
                <a:latin typeface="Rockwell" panose="02060603020205020403" pitchFamily="18" charset="0"/>
              </a:rPr>
              <a:t>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References</a:t>
            </a:r>
          </a:p>
        </p:txBody>
      </p:sp>
      <p:sp>
        <p:nvSpPr>
          <p:cNvPr id="6" name="Rectangle 5"/>
          <p:cNvSpPr/>
          <p:nvPr/>
        </p:nvSpPr>
        <p:spPr>
          <a:xfrm>
            <a:off x="514982" y="1393190"/>
            <a:ext cx="11463655" cy="2308324"/>
          </a:xfrm>
          <a:prstGeom prst="rect">
            <a:avLst/>
          </a:prstGeom>
        </p:spPr>
        <p:txBody>
          <a:bodyPr wrap="square">
            <a:spAutoFit/>
          </a:bodyPr>
          <a:lstStyle/>
          <a:p>
            <a:pPr algn="just"/>
            <a:r>
              <a:rPr lang="en-IN" u="sng" dirty="0">
                <a:latin typeface="Rockwell" panose="02060603020205020403" pitchFamily="18" charset="0"/>
              </a:rPr>
              <a:t>4. Final </a:t>
            </a:r>
            <a:r>
              <a:rPr lang="en-IN" u="sng" dirty="0">
                <a:solidFill>
                  <a:srgbClr val="FF0000"/>
                </a:solidFill>
                <a:latin typeface="Rockwell" panose="02060603020205020403" pitchFamily="18" charset="0"/>
              </a:rPr>
              <a:t>Dashboard</a:t>
            </a:r>
          </a:p>
          <a:p>
            <a:pPr algn="just"/>
            <a:endParaRPr lang="en-IN" dirty="0">
              <a:latin typeface="Rockwell" panose="02060603020205020403" pitchFamily="18" charset="0"/>
            </a:endParaRPr>
          </a:p>
          <a:p>
            <a:pPr algn="just"/>
            <a:r>
              <a:rPr lang="en-IN" dirty="0">
                <a:latin typeface="Rockwell" panose="02060603020205020403" pitchFamily="18" charset="0"/>
              </a:rPr>
              <a:t>Using:- Power BI Desktop</a:t>
            </a:r>
          </a:p>
          <a:p>
            <a:pPr algn="just"/>
            <a:r>
              <a:rPr lang="en-US" dirty="0">
                <a:latin typeface="Rockwell" panose="02060603020205020403" pitchFamily="18" charset="0"/>
              </a:rPr>
              <a:t>We </a:t>
            </a:r>
            <a:r>
              <a:rPr lang="en-IN" dirty="0">
                <a:latin typeface="Rockwell" panose="02060603020205020403" pitchFamily="18" charset="0"/>
              </a:rPr>
              <a:t>created a good dashboard with useful KPI cards that help HR analyse employee data easily.</a:t>
            </a:r>
          </a:p>
          <a:p>
            <a:pPr algn="just"/>
            <a:endParaRPr lang="en-IN" dirty="0">
              <a:solidFill>
                <a:srgbClr val="FFFF00"/>
              </a:solidFill>
              <a:latin typeface="Rockwell" panose="02060603020205020403" pitchFamily="18" charset="0"/>
            </a:endParaRPr>
          </a:p>
          <a:p>
            <a:pPr algn="just"/>
            <a:endParaRPr lang="en-IN" dirty="0">
              <a:solidFill>
                <a:srgbClr val="FFFF00"/>
              </a:solidFill>
              <a:latin typeface="Rockwell" panose="02060603020205020403" pitchFamily="18" charset="0"/>
            </a:endParaRPr>
          </a:p>
          <a:p>
            <a:pPr algn="just"/>
            <a:endParaRPr lang="en-US" dirty="0">
              <a:solidFill>
                <a:srgbClr val="FFFF00"/>
              </a:solidFill>
              <a:latin typeface="Rockwell" panose="02060603020205020403" pitchFamily="18" charset="0"/>
            </a:endParaRPr>
          </a:p>
          <a:p>
            <a:pPr algn="just"/>
            <a:endParaRPr lang="en-IN" dirty="0">
              <a:latin typeface="Rockwell" panose="02060603020205020403" pitchFamily="18" charset="0"/>
            </a:endParaRP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Tree>
    <p:extLst>
      <p:ext uri="{BB962C8B-B14F-4D97-AF65-F5344CB8AC3E}">
        <p14:creationId xmlns:p14="http://schemas.microsoft.com/office/powerpoint/2010/main" val="3244669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223F-EEFE-6800-F7FD-2261F50A9427}"/>
            </a:ext>
          </a:extLst>
        </p:cNvPr>
        <p:cNvGrpSpPr/>
        <p:nvPr/>
      </p:nvGrpSpPr>
      <p:grpSpPr>
        <a:xfrm>
          <a:off x="0" y="0"/>
          <a:ext cx="0" cy="0"/>
          <a:chOff x="0" y="0"/>
          <a:chExt cx="0" cy="0"/>
        </a:xfrm>
      </p:grpSpPr>
      <p:sp>
        <p:nvSpPr>
          <p:cNvPr id="12289" name="Rectangle 7">
            <a:extLst>
              <a:ext uri="{FF2B5EF4-FFF2-40B4-BE49-F238E27FC236}">
                <a16:creationId xmlns:a16="http://schemas.microsoft.com/office/drawing/2014/main" id="{4462D605-EAC0-28C0-7D26-54A95FFFD526}"/>
              </a:ext>
            </a:extLst>
          </p:cNvPr>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 name="Title 1">
            <a:extLst>
              <a:ext uri="{FF2B5EF4-FFF2-40B4-BE49-F238E27FC236}">
                <a16:creationId xmlns:a16="http://schemas.microsoft.com/office/drawing/2014/main" id="{B1DFFF3C-E004-09C7-625B-F5381968C264}"/>
              </a:ext>
            </a:extLst>
          </p:cNvPr>
          <p:cNvSpPr txBox="1"/>
          <p:nvPr/>
        </p:nvSpPr>
        <p:spPr bwMode="auto">
          <a:xfrm>
            <a:off x="0" y="0"/>
            <a:ext cx="12192000" cy="639763"/>
          </a:xfrm>
          <a:prstGeom prst="rect">
            <a:avLst/>
          </a:prstGeom>
          <a:solidFill>
            <a:srgbClr val="7030A0"/>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ea typeface="+mj-ea"/>
                <a:cs typeface="Times New Roman" panose="02020603050405020304" pitchFamily="18" charset="0"/>
              </a:rPr>
              <a:t>References</a:t>
            </a:r>
          </a:p>
        </p:txBody>
      </p:sp>
      <p:sp>
        <p:nvSpPr>
          <p:cNvPr id="6" name="Rectangle 5">
            <a:extLst>
              <a:ext uri="{FF2B5EF4-FFF2-40B4-BE49-F238E27FC236}">
                <a16:creationId xmlns:a16="http://schemas.microsoft.com/office/drawing/2014/main" id="{2C32E02B-6A72-BD34-0EB5-32D084184123}"/>
              </a:ext>
            </a:extLst>
          </p:cNvPr>
          <p:cNvSpPr/>
          <p:nvPr/>
        </p:nvSpPr>
        <p:spPr>
          <a:xfrm>
            <a:off x="514982" y="1393190"/>
            <a:ext cx="9854703" cy="3970318"/>
          </a:xfrm>
          <a:prstGeom prst="rect">
            <a:avLst/>
          </a:prstGeom>
        </p:spPr>
        <p:txBody>
          <a:bodyPr wrap="square">
            <a:spAutoFit/>
          </a:bodyPr>
          <a:lstStyle/>
          <a:p>
            <a:pPr algn="just"/>
            <a:r>
              <a:rPr lang="en-IN" u="sng" dirty="0">
                <a:latin typeface="Rockwell" panose="02060603020205020403" pitchFamily="18" charset="0"/>
              </a:rPr>
              <a:t>1. For </a:t>
            </a:r>
            <a:r>
              <a:rPr lang="en-IN" u="sng" dirty="0">
                <a:solidFill>
                  <a:srgbClr val="FF0000"/>
                </a:solidFill>
                <a:latin typeface="Rockwell" panose="02060603020205020403" pitchFamily="18" charset="0"/>
              </a:rPr>
              <a:t>HTML Code </a:t>
            </a:r>
          </a:p>
          <a:p>
            <a:pPr algn="just"/>
            <a:endParaRPr lang="en-IN" dirty="0">
              <a:latin typeface="Rockwell" panose="02060603020205020403" pitchFamily="18" charset="0"/>
            </a:endParaRPr>
          </a:p>
          <a:p>
            <a:pPr algn="just"/>
            <a:r>
              <a:rPr lang="en-IN" dirty="0">
                <a:latin typeface="Rockwell" panose="02060603020205020403" pitchFamily="18" charset="0"/>
              </a:rPr>
              <a:t>Using:- ChatGPT</a:t>
            </a:r>
          </a:p>
          <a:p>
            <a:pPr algn="just"/>
            <a:r>
              <a:rPr lang="en-US" dirty="0">
                <a:latin typeface="Rockwell" panose="02060603020205020403" pitchFamily="18" charset="0"/>
              </a:rPr>
              <a:t>We </a:t>
            </a:r>
            <a:r>
              <a:rPr lang="en-IN" dirty="0">
                <a:latin typeface="Rockwell" panose="02060603020205020403" pitchFamily="18" charset="0"/>
              </a:rPr>
              <a:t>used ChatGPT to get help in Writing the HTML and JavaScript code for the AI Assistant.</a:t>
            </a:r>
          </a:p>
          <a:p>
            <a:pPr algn="just"/>
            <a:endParaRPr lang="en-IN" dirty="0">
              <a:latin typeface="Rockwell" panose="02060603020205020403" pitchFamily="18" charset="0"/>
            </a:endParaRPr>
          </a:p>
          <a:p>
            <a:pPr algn="just"/>
            <a:endParaRPr lang="en-IN" dirty="0">
              <a:latin typeface="Rockwell" panose="02060603020205020403" pitchFamily="18" charset="0"/>
            </a:endParaRPr>
          </a:p>
          <a:p>
            <a:pPr algn="just"/>
            <a:r>
              <a:rPr lang="en-IN" u="sng" dirty="0">
                <a:latin typeface="Rockwell" panose="02060603020205020403" pitchFamily="18" charset="0"/>
              </a:rPr>
              <a:t>2. For </a:t>
            </a:r>
            <a:r>
              <a:rPr lang="en-IN" u="sng" dirty="0">
                <a:solidFill>
                  <a:srgbClr val="FF0000"/>
                </a:solidFill>
                <a:latin typeface="Rockwell" panose="02060603020205020403" pitchFamily="18" charset="0"/>
              </a:rPr>
              <a:t>Proper Output Interface</a:t>
            </a:r>
          </a:p>
          <a:p>
            <a:pPr algn="just"/>
            <a:endParaRPr lang="en-IN" dirty="0">
              <a:latin typeface="Rockwell" panose="02060603020205020403" pitchFamily="18" charset="0"/>
            </a:endParaRPr>
          </a:p>
          <a:p>
            <a:pPr algn="just"/>
            <a:r>
              <a:rPr lang="en-IN" dirty="0">
                <a:latin typeface="Rockwell" panose="02060603020205020403" pitchFamily="18" charset="0"/>
              </a:rPr>
              <a:t>Using:- Vs Code</a:t>
            </a:r>
          </a:p>
          <a:p>
            <a:pPr algn="just"/>
            <a:r>
              <a:rPr lang="en-IN" dirty="0">
                <a:latin typeface="Rockwell" panose="02060603020205020403" pitchFamily="18" charset="0"/>
              </a:rPr>
              <a:t>We used VS Code to build a proper AI Assistant and Create a user-friendly interface.</a:t>
            </a:r>
          </a:p>
          <a:p>
            <a:pPr algn="just"/>
            <a:endParaRPr lang="en-IN" dirty="0">
              <a:solidFill>
                <a:srgbClr val="FFFF00"/>
              </a:solidFill>
              <a:latin typeface="Rockwell" panose="02060603020205020403" pitchFamily="18" charset="0"/>
            </a:endParaRPr>
          </a:p>
          <a:p>
            <a:pPr algn="just"/>
            <a:endParaRPr lang="en-IN" dirty="0">
              <a:solidFill>
                <a:srgbClr val="FFFF00"/>
              </a:solidFill>
              <a:latin typeface="Rockwell" panose="02060603020205020403" pitchFamily="18" charset="0"/>
            </a:endParaRPr>
          </a:p>
          <a:p>
            <a:pPr algn="just"/>
            <a:endParaRPr lang="en-US" dirty="0">
              <a:solidFill>
                <a:srgbClr val="FFFF00"/>
              </a:solidFill>
              <a:latin typeface="Rockwell" panose="02060603020205020403" pitchFamily="18" charset="0"/>
            </a:endParaRPr>
          </a:p>
          <a:p>
            <a:pPr algn="just"/>
            <a:endParaRPr lang="en-IN" dirty="0">
              <a:latin typeface="Rockwell" panose="02060603020205020403" pitchFamily="18" charset="0"/>
            </a:endParaRPr>
          </a:p>
        </p:txBody>
      </p:sp>
      <p:pic>
        <p:nvPicPr>
          <p:cNvPr id="9" name="Picture 8">
            <a:extLst>
              <a:ext uri="{FF2B5EF4-FFF2-40B4-BE49-F238E27FC236}">
                <a16:creationId xmlns:a16="http://schemas.microsoft.com/office/drawing/2014/main" id="{EA2CFA88-C408-0A1A-CD04-BCC08AD53AD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2" name="TextBox 1">
            <a:extLst>
              <a:ext uri="{FF2B5EF4-FFF2-40B4-BE49-F238E27FC236}">
                <a16:creationId xmlns:a16="http://schemas.microsoft.com/office/drawing/2014/main" id="{5CA9899E-53C3-2022-5D90-83DFAD71FA37}"/>
              </a:ext>
            </a:extLst>
          </p:cNvPr>
          <p:cNvSpPr txBox="1"/>
          <p:nvPr/>
        </p:nvSpPr>
        <p:spPr>
          <a:xfrm>
            <a:off x="4922874" y="822326"/>
            <a:ext cx="2062717" cy="400110"/>
          </a:xfrm>
          <a:prstGeom prst="rect">
            <a:avLst/>
          </a:prstGeom>
          <a:noFill/>
        </p:spPr>
        <p:txBody>
          <a:bodyPr wrap="square" rtlCol="0">
            <a:spAutoFit/>
          </a:bodyPr>
          <a:lstStyle/>
          <a:p>
            <a:pPr algn="just"/>
            <a:r>
              <a:rPr lang="en-US" sz="2000" dirty="0">
                <a:latin typeface="Rockwell" panose="02060603020205020403" pitchFamily="18" charset="0"/>
              </a:rPr>
              <a:t>For </a:t>
            </a:r>
            <a:r>
              <a:rPr lang="en-US" sz="2000" dirty="0">
                <a:solidFill>
                  <a:srgbClr val="FF0000"/>
                </a:solidFill>
                <a:latin typeface="Rockwell" panose="02060603020205020403" pitchFamily="18" charset="0"/>
              </a:rPr>
              <a:t>AI Assistant</a:t>
            </a:r>
          </a:p>
        </p:txBody>
      </p:sp>
    </p:spTree>
    <p:extLst>
      <p:ext uri="{BB962C8B-B14F-4D97-AF65-F5344CB8AC3E}">
        <p14:creationId xmlns:p14="http://schemas.microsoft.com/office/powerpoint/2010/main" val="1649851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p:nvPr/>
        </p:nvSpPr>
        <p:spPr>
          <a:xfrm>
            <a:off x="0" y="0"/>
            <a:ext cx="12192000" cy="457200"/>
          </a:xfrm>
          <a:prstGeom prst="rect">
            <a:avLst/>
          </a:prstGeom>
          <a:noFill/>
          <a:ln w="9525">
            <a:noFill/>
          </a:ln>
        </p:spPr>
        <p:txBody>
          <a:bodyPr wrap="none" anchor="ctr" anchorCtr="0">
            <a:spAutoFit/>
          </a:bodyPr>
          <a:lstStyle/>
          <a:p>
            <a:endParaRPr lang="en-IN" altLang="en-US" dirty="0">
              <a:latin typeface="Calibri" panose="020F0502020204030204" pitchFamily="34" charset="0"/>
              <a:ea typeface="Arial" panose="020B0604020202020204" pitchFamily="34" charset="0"/>
            </a:endParaRPr>
          </a:p>
        </p:txBody>
      </p:sp>
      <p:sp>
        <p:nvSpPr>
          <p:cNvPr id="13314" name="Title 1"/>
          <p:cNvSpPr txBox="1"/>
          <p:nvPr/>
        </p:nvSpPr>
        <p:spPr>
          <a:xfrm>
            <a:off x="2251075" y="1069975"/>
            <a:ext cx="7239000" cy="908050"/>
          </a:xfrm>
          <a:prstGeom prst="rect">
            <a:avLst/>
          </a:prstGeom>
          <a:noFill/>
          <a:ln w="9525">
            <a:noFill/>
          </a:ln>
        </p:spPr>
        <p:txBody>
          <a:bodyPr anchor="b" anchorCtr="0"/>
          <a:lstStyle/>
          <a:p>
            <a:pPr algn="ctr">
              <a:lnSpc>
                <a:spcPct val="90000"/>
              </a:lnSpc>
            </a:pPr>
            <a:endParaRPr lang="en-US" altLang="en-US" sz="3900" dirty="0">
              <a:solidFill>
                <a:srgbClr val="525252"/>
              </a:solidFill>
              <a:latin typeface="Times New Roman" panose="02020603050405020304" pitchFamily="18" charset="0"/>
              <a:ea typeface="Times New Roman" panose="02020603050405020304" pitchFamily="18" charset="0"/>
            </a:endParaRPr>
          </a:p>
        </p:txBody>
      </p:sp>
      <p:sp>
        <p:nvSpPr>
          <p:cNvPr id="9" name="Rectangle 8"/>
          <p:cNvSpPr/>
          <p:nvPr/>
        </p:nvSpPr>
        <p:spPr>
          <a:xfrm>
            <a:off x="1766888" y="1978025"/>
            <a:ext cx="8207375" cy="1862138"/>
          </a:xfrm>
          <a:prstGeom prst="rect">
            <a:avLst/>
          </a:prstGeom>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sz="115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rPr>
              <a:t>Thank you !</a:t>
            </a:r>
            <a:endParaRPr kumimoji="0" lang="en-IN" sz="11500" b="1" i="1" u="none" strike="noStrike" kern="1200" cap="none" spc="0" normalizeH="0" baseline="0" noProof="0" dirty="0">
              <a:ln w="3175"/>
              <a:solidFill>
                <a:schemeClr val="tx1">
                  <a:lumMod val="85000"/>
                  <a:lumOff val="15000"/>
                </a:schemeClr>
              </a:solidFill>
              <a:effectLst>
                <a:outerShdw blurRad="50800" dist="39000" dir="5460000" algn="tl">
                  <a:srgbClr val="000000">
                    <a:alpha val="38000"/>
                  </a:srgbClr>
                </a:outerShdw>
              </a:effectLst>
              <a:uLnTx/>
              <a:uFillTx/>
              <a:latin typeface="Bodoni MT" panose="02070603080606020203" pitchFamily="18" charset="0"/>
            </a:endParaRPr>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94965"/>
          <a:stretch/>
        </p:blipFill>
        <p:spPr>
          <a:xfrm>
            <a:off x="0" y="6512719"/>
            <a:ext cx="12192000" cy="345281"/>
          </a:xfrm>
          <a:prstGeom prst="rect">
            <a:avLst/>
          </a:prstGeom>
        </p:spPr>
      </p:pic>
      <p:sp>
        <p:nvSpPr>
          <p:cNvPr id="7" name="Text Box 2"/>
          <p:cNvSpPr txBox="1">
            <a:spLocks noChangeArrowheads="1"/>
          </p:cNvSpPr>
          <p:nvPr/>
        </p:nvSpPr>
        <p:spPr bwMode="auto">
          <a:xfrm>
            <a:off x="2045335" y="6261102"/>
            <a:ext cx="4907280" cy="28130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Nagpur</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Pune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Jalgaon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Amravati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err="1">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Pandhurna</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b="1"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 </a:t>
            </a:r>
            <a:r>
              <a:rPr lang="en-IN"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Bhandara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4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85408" y="5610859"/>
            <a:ext cx="1874520" cy="901860"/>
          </a:xfrm>
          <a:prstGeom prst="rect">
            <a:avLst/>
          </a:prstGeom>
          <a:noFill/>
          <a:ln>
            <a:noFill/>
          </a:ln>
        </p:spPr>
      </p:pic>
      <p:pic>
        <p:nvPicPr>
          <p:cNvPr id="2" name="Picture 1" descr="G H Raisoni Skill Tech University ...">
            <a:extLst>
              <a:ext uri="{FF2B5EF4-FFF2-40B4-BE49-F238E27FC236}">
                <a16:creationId xmlns:a16="http://schemas.microsoft.com/office/drawing/2014/main" id="{46D4AB03-94B6-6990-1932-227D3D56EAA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490075" y="387350"/>
            <a:ext cx="1983467" cy="908050"/>
          </a:xfrm>
          <a:prstGeom prst="rect">
            <a:avLst/>
          </a:prstGeom>
          <a:noFill/>
          <a:ln>
            <a:noFill/>
          </a:ln>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835</Words>
  <Application>Microsoft Office PowerPoint</Application>
  <PresentationFormat>Widescreen</PresentationFormat>
  <Paragraphs>153</Paragraphs>
  <Slides>14</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14</vt:i4>
      </vt:variant>
    </vt:vector>
  </HeadingPairs>
  <TitlesOfParts>
    <vt:vector size="26" baseType="lpstr">
      <vt:lpstr>Arial</vt:lpstr>
      <vt:lpstr>Arial Black</vt:lpstr>
      <vt:lpstr>Bodoni MT</vt:lpstr>
      <vt:lpstr>Calibri</vt:lpstr>
      <vt:lpstr>Calibri Light</vt:lpstr>
      <vt:lpstr>Castellar</vt:lpstr>
      <vt:lpstr>Rockwell</vt:lpstr>
      <vt:lpstr>Times New Roman</vt:lpstr>
      <vt:lpstr>Wingdings</vt:lpstr>
      <vt:lpstr>1_Office Theme</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prajwal chahande</dc:creator>
  <cp:lastModifiedBy>Prajwal Chahande</cp:lastModifiedBy>
  <cp:revision>1</cp:revision>
  <dcterms:modified xsi:type="dcterms:W3CDTF">2026-09-21T12:45:40Z</dcterms:modified>
</cp:coreProperties>
</file>